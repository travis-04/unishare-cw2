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1" r:id="rId16"/>
    <p:sldId id="270" r:id="rId17"/>
  </p:sldIdLst>
  <p:sldSz cx="18288000" cy="10287000"/>
  <p:notesSz cx="6858000" cy="9144000"/>
  <p:embeddedFontLst>
    <p:embeddedFont>
      <p:font typeface="Caladea" panose="020B0604020202020204" charset="0"/>
      <p:regular r:id="rId18"/>
    </p:embeddedFont>
    <p:embeddedFont>
      <p:font typeface="Caladea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C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496F75-AC96-4FE4-83CC-228E1E214D7C}" v="45" dt="2025-11-14T00:59:16.0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varScale="1">
        <p:scale>
          <a:sx n="46" d="100"/>
          <a:sy n="46" d="100"/>
        </p:scale>
        <p:origin x="75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k-Hung Lui" userId="18a7e92e-4208-41de-a482-a0aa6fd89d26" providerId="ADAL" clId="{FEA233CB-03EE-4342-AC7F-BE70D5B9A2EA}"/>
    <pc:docChg chg="undo custSel addSld delSld modSld">
      <pc:chgData name="Lok-Hung Lui" userId="18a7e92e-4208-41de-a482-a0aa6fd89d26" providerId="ADAL" clId="{FEA233CB-03EE-4342-AC7F-BE70D5B9A2EA}" dt="2025-11-14T01:00:36.431" v="7965" actId="12"/>
      <pc:docMkLst>
        <pc:docMk/>
      </pc:docMkLst>
      <pc:sldChg chg="modSp mod">
        <pc:chgData name="Lok-Hung Lui" userId="18a7e92e-4208-41de-a482-a0aa6fd89d26" providerId="ADAL" clId="{FEA233CB-03EE-4342-AC7F-BE70D5B9A2EA}" dt="2025-11-14T00:40:10.856" v="7439" actId="404"/>
        <pc:sldMkLst>
          <pc:docMk/>
          <pc:sldMk cId="0" sldId="258"/>
        </pc:sldMkLst>
        <pc:spChg chg="mod">
          <ac:chgData name="Lok-Hung Lui" userId="18a7e92e-4208-41de-a482-a0aa6fd89d26" providerId="ADAL" clId="{FEA233CB-03EE-4342-AC7F-BE70D5B9A2EA}" dt="2025-11-14T00:40:10.856" v="7439" actId="404"/>
          <ac:spMkLst>
            <pc:docMk/>
            <pc:sldMk cId="0" sldId="258"/>
            <ac:spMk id="7" creationId="{00000000-0000-0000-0000-000000000000}"/>
          </ac:spMkLst>
        </pc:spChg>
      </pc:sldChg>
      <pc:sldChg chg="addSp modSp mod">
        <pc:chgData name="Lok-Hung Lui" userId="18a7e92e-4208-41de-a482-a0aa6fd89d26" providerId="ADAL" clId="{FEA233CB-03EE-4342-AC7F-BE70D5B9A2EA}" dt="2025-11-14T00:53:21.982" v="7628" actId="1076"/>
        <pc:sldMkLst>
          <pc:docMk/>
          <pc:sldMk cId="0" sldId="259"/>
        </pc:sldMkLst>
        <pc:spChg chg="add mod">
          <ac:chgData name="Lok-Hung Lui" userId="18a7e92e-4208-41de-a482-a0aa6fd89d26" providerId="ADAL" clId="{FEA233CB-03EE-4342-AC7F-BE70D5B9A2EA}" dt="2025-11-14T00:53:21.982" v="7628" actId="1076"/>
          <ac:spMkLst>
            <pc:docMk/>
            <pc:sldMk cId="0" sldId="259"/>
            <ac:spMk id="4" creationId="{95456819-861E-A63C-CD5E-86AFC38F0553}"/>
          </ac:spMkLst>
        </pc:spChg>
      </pc:sldChg>
      <pc:sldChg chg="addSp modSp mod">
        <pc:chgData name="Lok-Hung Lui" userId="18a7e92e-4208-41de-a482-a0aa6fd89d26" providerId="ADAL" clId="{FEA233CB-03EE-4342-AC7F-BE70D5B9A2EA}" dt="2025-11-14T00:53:17.559" v="7626" actId="1076"/>
        <pc:sldMkLst>
          <pc:docMk/>
          <pc:sldMk cId="0" sldId="260"/>
        </pc:sldMkLst>
        <pc:spChg chg="add mod">
          <ac:chgData name="Lok-Hung Lui" userId="18a7e92e-4208-41de-a482-a0aa6fd89d26" providerId="ADAL" clId="{FEA233CB-03EE-4342-AC7F-BE70D5B9A2EA}" dt="2025-11-13T23:25:52.256" v="107" actId="207"/>
          <ac:spMkLst>
            <pc:docMk/>
            <pc:sldMk cId="0" sldId="260"/>
            <ac:spMk id="4" creationId="{C2729E1A-63CA-2B34-8633-9C83E7639D8C}"/>
          </ac:spMkLst>
        </pc:spChg>
        <pc:spChg chg="add mod">
          <ac:chgData name="Lok-Hung Lui" userId="18a7e92e-4208-41de-a482-a0aa6fd89d26" providerId="ADAL" clId="{FEA233CB-03EE-4342-AC7F-BE70D5B9A2EA}" dt="2025-11-14T00:53:17.559" v="7626" actId="1076"/>
          <ac:spMkLst>
            <pc:docMk/>
            <pc:sldMk cId="0" sldId="260"/>
            <ac:spMk id="5" creationId="{32A30A89-16E4-F374-034F-206E9FED2C8A}"/>
          </ac:spMkLst>
        </pc:spChg>
        <pc:picChg chg="mod">
          <ac:chgData name="Lok-Hung Lui" userId="18a7e92e-4208-41de-a482-a0aa6fd89d26" providerId="ADAL" clId="{FEA233CB-03EE-4342-AC7F-BE70D5B9A2EA}" dt="2025-11-13T23:24:21.176" v="3" actId="1076"/>
          <ac:picMkLst>
            <pc:docMk/>
            <pc:sldMk cId="0" sldId="260"/>
            <ac:picMk id="9" creationId="{64B6F403-B1D3-91AE-053F-481618EE9F43}"/>
          </ac:picMkLst>
        </pc:picChg>
      </pc:sldChg>
      <pc:sldChg chg="addSp modSp mod">
        <pc:chgData name="Lok-Hung Lui" userId="18a7e92e-4208-41de-a482-a0aa6fd89d26" providerId="ADAL" clId="{FEA233CB-03EE-4342-AC7F-BE70D5B9A2EA}" dt="2025-11-14T00:53:12.969" v="7624" actId="1076"/>
        <pc:sldMkLst>
          <pc:docMk/>
          <pc:sldMk cId="0" sldId="261"/>
        </pc:sldMkLst>
        <pc:spChg chg="add mod">
          <ac:chgData name="Lok-Hung Lui" userId="18a7e92e-4208-41de-a482-a0aa6fd89d26" providerId="ADAL" clId="{FEA233CB-03EE-4342-AC7F-BE70D5B9A2EA}" dt="2025-11-14T00:53:12.969" v="7624" actId="1076"/>
          <ac:spMkLst>
            <pc:docMk/>
            <pc:sldMk cId="0" sldId="261"/>
            <ac:spMk id="5" creationId="{A7EB21C2-4D3C-793C-789B-652C201180A5}"/>
          </ac:spMkLst>
        </pc:spChg>
        <pc:spChg chg="mod">
          <ac:chgData name="Lok-Hung Lui" userId="18a7e92e-4208-41de-a482-a0aa6fd89d26" providerId="ADAL" clId="{FEA233CB-03EE-4342-AC7F-BE70D5B9A2EA}" dt="2025-11-14T00:32:46.477" v="7288" actId="313"/>
          <ac:spMkLst>
            <pc:docMk/>
            <pc:sldMk cId="0" sldId="261"/>
            <ac:spMk id="11" creationId="{00000000-0000-0000-0000-000000000000}"/>
          </ac:spMkLst>
        </pc:spChg>
      </pc:sldChg>
      <pc:sldChg chg="addSp modSp mod">
        <pc:chgData name="Lok-Hung Lui" userId="18a7e92e-4208-41de-a482-a0aa6fd89d26" providerId="ADAL" clId="{FEA233CB-03EE-4342-AC7F-BE70D5B9A2EA}" dt="2025-11-14T00:52:57.071" v="7622" actId="14100"/>
        <pc:sldMkLst>
          <pc:docMk/>
          <pc:sldMk cId="0" sldId="262"/>
        </pc:sldMkLst>
        <pc:spChg chg="add mod">
          <ac:chgData name="Lok-Hung Lui" userId="18a7e92e-4208-41de-a482-a0aa6fd89d26" providerId="ADAL" clId="{FEA233CB-03EE-4342-AC7F-BE70D5B9A2EA}" dt="2025-11-14T00:38:23.913" v="7431" actId="1076"/>
          <ac:spMkLst>
            <pc:docMk/>
            <pc:sldMk cId="0" sldId="262"/>
            <ac:spMk id="4" creationId="{3F09E4C7-54BE-79D1-4BF2-9580219C1296}"/>
          </ac:spMkLst>
        </pc:spChg>
        <pc:spChg chg="add mod">
          <ac:chgData name="Lok-Hung Lui" userId="18a7e92e-4208-41de-a482-a0aa6fd89d26" providerId="ADAL" clId="{FEA233CB-03EE-4342-AC7F-BE70D5B9A2EA}" dt="2025-11-14T00:52:57.071" v="7622" actId="14100"/>
          <ac:spMkLst>
            <pc:docMk/>
            <pc:sldMk cId="0" sldId="262"/>
            <ac:spMk id="5" creationId="{E9859402-4A79-BDB1-2023-CC4227D23C85}"/>
          </ac:spMkLst>
        </pc:spChg>
      </pc:sldChg>
      <pc:sldChg chg="addSp modSp mod">
        <pc:chgData name="Lok-Hung Lui" userId="18a7e92e-4208-41de-a482-a0aa6fd89d26" providerId="ADAL" clId="{FEA233CB-03EE-4342-AC7F-BE70D5B9A2EA}" dt="2025-11-14T00:52:09.207" v="7600" actId="1076"/>
        <pc:sldMkLst>
          <pc:docMk/>
          <pc:sldMk cId="0" sldId="264"/>
        </pc:sldMkLst>
        <pc:spChg chg="add mod">
          <ac:chgData name="Lok-Hung Lui" userId="18a7e92e-4208-41de-a482-a0aa6fd89d26" providerId="ADAL" clId="{FEA233CB-03EE-4342-AC7F-BE70D5B9A2EA}" dt="2025-11-14T00:52:09.207" v="7600" actId="1076"/>
          <ac:spMkLst>
            <pc:docMk/>
            <pc:sldMk cId="0" sldId="264"/>
            <ac:spMk id="4" creationId="{D76BDC57-8D60-CD47-E4E1-805A1ED99336}"/>
          </ac:spMkLst>
        </pc:spChg>
        <pc:spChg chg="mod">
          <ac:chgData name="Lok-Hung Lui" userId="18a7e92e-4208-41de-a482-a0aa6fd89d26" providerId="ADAL" clId="{FEA233CB-03EE-4342-AC7F-BE70D5B9A2EA}" dt="2025-11-14T00:32:55.592" v="7289" actId="313"/>
          <ac:spMkLst>
            <pc:docMk/>
            <pc:sldMk cId="0" sldId="264"/>
            <ac:spMk id="7" creationId="{00000000-0000-0000-0000-000000000000}"/>
          </ac:spMkLst>
        </pc:spChg>
      </pc:sldChg>
      <pc:sldChg chg="addSp modSp mod">
        <pc:chgData name="Lok-Hung Lui" userId="18a7e92e-4208-41de-a482-a0aa6fd89d26" providerId="ADAL" clId="{FEA233CB-03EE-4342-AC7F-BE70D5B9A2EA}" dt="2025-11-14T00:51:47.392" v="7596" actId="1076"/>
        <pc:sldMkLst>
          <pc:docMk/>
          <pc:sldMk cId="0" sldId="265"/>
        </pc:sldMkLst>
        <pc:spChg chg="mod">
          <ac:chgData name="Lok-Hung Lui" userId="18a7e92e-4208-41de-a482-a0aa6fd89d26" providerId="ADAL" clId="{FEA233CB-03EE-4342-AC7F-BE70D5B9A2EA}" dt="2025-11-14T00:32:58.187" v="7290" actId="313"/>
          <ac:spMkLst>
            <pc:docMk/>
            <pc:sldMk cId="0" sldId="265"/>
            <ac:spMk id="2" creationId="{00000000-0000-0000-0000-000000000000}"/>
          </ac:spMkLst>
        </pc:spChg>
        <pc:spChg chg="add mod">
          <ac:chgData name="Lok-Hung Lui" userId="18a7e92e-4208-41de-a482-a0aa6fd89d26" providerId="ADAL" clId="{FEA233CB-03EE-4342-AC7F-BE70D5B9A2EA}" dt="2025-11-14T00:51:47.392" v="7596" actId="1076"/>
          <ac:spMkLst>
            <pc:docMk/>
            <pc:sldMk cId="0" sldId="265"/>
            <ac:spMk id="3" creationId="{D9EC3484-9F0A-09CF-CE77-4D7A32A4E0D8}"/>
          </ac:spMkLst>
        </pc:spChg>
        <pc:spChg chg="mod">
          <ac:chgData name="Lok-Hung Lui" userId="18a7e92e-4208-41de-a482-a0aa6fd89d26" providerId="ADAL" clId="{FEA233CB-03EE-4342-AC7F-BE70D5B9A2EA}" dt="2025-11-14T00:44:53.151" v="7488" actId="20577"/>
          <ac:spMkLst>
            <pc:docMk/>
            <pc:sldMk cId="0" sldId="265"/>
            <ac:spMk id="10" creationId="{40723315-F896-04E2-8D6B-3FE81D1CFE8D}"/>
          </ac:spMkLst>
        </pc:spChg>
      </pc:sldChg>
      <pc:sldChg chg="addSp delSp modSp mod">
        <pc:chgData name="Lok-Hung Lui" userId="18a7e92e-4208-41de-a482-a0aa6fd89d26" providerId="ADAL" clId="{FEA233CB-03EE-4342-AC7F-BE70D5B9A2EA}" dt="2025-11-14T00:51:49.892" v="7597"/>
        <pc:sldMkLst>
          <pc:docMk/>
          <pc:sldMk cId="0" sldId="266"/>
        </pc:sldMkLst>
        <pc:spChg chg="del">
          <ac:chgData name="Lok-Hung Lui" userId="18a7e92e-4208-41de-a482-a0aa6fd89d26" providerId="ADAL" clId="{FEA233CB-03EE-4342-AC7F-BE70D5B9A2EA}" dt="2025-11-13T23:43:26.046" v="2182" actId="478"/>
          <ac:spMkLst>
            <pc:docMk/>
            <pc:sldMk cId="0" sldId="266"/>
            <ac:spMk id="2" creationId="{00000000-0000-0000-0000-000000000000}"/>
          </ac:spMkLst>
        </pc:spChg>
        <pc:spChg chg="add mod">
          <ac:chgData name="Lok-Hung Lui" userId="18a7e92e-4208-41de-a482-a0aa6fd89d26" providerId="ADAL" clId="{FEA233CB-03EE-4342-AC7F-BE70D5B9A2EA}" dt="2025-11-14T00:51:49.892" v="7597"/>
          <ac:spMkLst>
            <pc:docMk/>
            <pc:sldMk cId="0" sldId="266"/>
            <ac:spMk id="2" creationId="{D7F09C8B-7128-9077-347C-021375B48173}"/>
          </ac:spMkLst>
        </pc:spChg>
        <pc:spChg chg="mod">
          <ac:chgData name="Lok-Hung Lui" userId="18a7e92e-4208-41de-a482-a0aa6fd89d26" providerId="ADAL" clId="{FEA233CB-03EE-4342-AC7F-BE70D5B9A2EA}" dt="2025-11-13T23:44:04.799" v="2201" actId="1037"/>
          <ac:spMkLst>
            <pc:docMk/>
            <pc:sldMk cId="0" sldId="266"/>
            <ac:spMk id="7" creationId="{00000000-0000-0000-0000-000000000000}"/>
          </ac:spMkLst>
        </pc:spChg>
        <pc:picChg chg="add mod">
          <ac:chgData name="Lok-Hung Lui" userId="18a7e92e-4208-41de-a482-a0aa6fd89d26" providerId="ADAL" clId="{FEA233CB-03EE-4342-AC7F-BE70D5B9A2EA}" dt="2025-11-13T23:43:27.922" v="2183" actId="1076"/>
          <ac:picMkLst>
            <pc:docMk/>
            <pc:sldMk cId="0" sldId="266"/>
            <ac:picMk id="1026" creationId="{AED14807-8F74-53B1-B3D8-41CD46D7E40C}"/>
          </ac:picMkLst>
        </pc:picChg>
        <pc:picChg chg="add mod">
          <ac:chgData name="Lok-Hung Lui" userId="18a7e92e-4208-41de-a482-a0aa6fd89d26" providerId="ADAL" clId="{FEA233CB-03EE-4342-AC7F-BE70D5B9A2EA}" dt="2025-11-13T23:44:00.522" v="2193" actId="1076"/>
          <ac:picMkLst>
            <pc:docMk/>
            <pc:sldMk cId="0" sldId="266"/>
            <ac:picMk id="1028" creationId="{01142365-67A3-095B-71B0-7F8E35F635E7}"/>
          </ac:picMkLst>
        </pc:picChg>
      </pc:sldChg>
      <pc:sldChg chg="delSp modSp mod">
        <pc:chgData name="Lok-Hung Lui" userId="18a7e92e-4208-41de-a482-a0aa6fd89d26" providerId="ADAL" clId="{FEA233CB-03EE-4342-AC7F-BE70D5B9A2EA}" dt="2025-11-13T23:53:05.894" v="3326" actId="120"/>
        <pc:sldMkLst>
          <pc:docMk/>
          <pc:sldMk cId="0" sldId="267"/>
        </pc:sldMkLst>
        <pc:spChg chg="mod">
          <ac:chgData name="Lok-Hung Lui" userId="18a7e92e-4208-41de-a482-a0aa6fd89d26" providerId="ADAL" clId="{FEA233CB-03EE-4342-AC7F-BE70D5B9A2EA}" dt="2025-11-13T23:45:03.594" v="2231" actId="1076"/>
          <ac:spMkLst>
            <pc:docMk/>
            <pc:sldMk cId="0" sldId="267"/>
            <ac:spMk id="4" creationId="{00000000-0000-0000-0000-000000000000}"/>
          </ac:spMkLst>
        </pc:spChg>
        <pc:spChg chg="del">
          <ac:chgData name="Lok-Hung Lui" userId="18a7e92e-4208-41de-a482-a0aa6fd89d26" providerId="ADAL" clId="{FEA233CB-03EE-4342-AC7F-BE70D5B9A2EA}" dt="2025-11-13T23:51:14.489" v="2936" actId="478"/>
          <ac:spMkLst>
            <pc:docMk/>
            <pc:sldMk cId="0" sldId="267"/>
            <ac:spMk id="7" creationId="{00000000-0000-0000-0000-000000000000}"/>
          </ac:spMkLst>
        </pc:spChg>
        <pc:spChg chg="mod">
          <ac:chgData name="Lok-Hung Lui" userId="18a7e92e-4208-41de-a482-a0aa6fd89d26" providerId="ADAL" clId="{FEA233CB-03EE-4342-AC7F-BE70D5B9A2EA}" dt="2025-11-13T23:53:05.894" v="3326" actId="120"/>
          <ac:spMkLst>
            <pc:docMk/>
            <pc:sldMk cId="0" sldId="267"/>
            <ac:spMk id="8" creationId="{00000000-0000-0000-0000-000000000000}"/>
          </ac:spMkLst>
        </pc:spChg>
        <pc:spChg chg="del">
          <ac:chgData name="Lok-Hung Lui" userId="18a7e92e-4208-41de-a482-a0aa6fd89d26" providerId="ADAL" clId="{FEA233CB-03EE-4342-AC7F-BE70D5B9A2EA}" dt="2025-11-13T23:50:58.406" v="2933" actId="478"/>
          <ac:spMkLst>
            <pc:docMk/>
            <pc:sldMk cId="0" sldId="267"/>
            <ac:spMk id="9" creationId="{00000000-0000-0000-0000-000000000000}"/>
          </ac:spMkLst>
        </pc:spChg>
      </pc:sldChg>
      <pc:sldChg chg="addSp delSp modSp mod">
        <pc:chgData name="Lok-Hung Lui" userId="18a7e92e-4208-41de-a482-a0aa6fd89d26" providerId="ADAL" clId="{FEA233CB-03EE-4342-AC7F-BE70D5B9A2EA}" dt="2025-11-14T00:14:57.682" v="5747" actId="20577"/>
        <pc:sldMkLst>
          <pc:docMk/>
          <pc:sldMk cId="0" sldId="268"/>
        </pc:sldMkLst>
        <pc:spChg chg="del">
          <ac:chgData name="Lok-Hung Lui" userId="18a7e92e-4208-41de-a482-a0aa6fd89d26" providerId="ADAL" clId="{FEA233CB-03EE-4342-AC7F-BE70D5B9A2EA}" dt="2025-11-14T00:06:52.102" v="4237" actId="478"/>
          <ac:spMkLst>
            <pc:docMk/>
            <pc:sldMk cId="0" sldId="268"/>
            <ac:spMk id="2" creationId="{00000000-0000-0000-0000-000000000000}"/>
          </ac:spMkLst>
        </pc:spChg>
        <pc:spChg chg="add mod">
          <ac:chgData name="Lok-Hung Lui" userId="18a7e92e-4208-41de-a482-a0aa6fd89d26" providerId="ADAL" clId="{FEA233CB-03EE-4342-AC7F-BE70D5B9A2EA}" dt="2025-11-14T00:14:57.682" v="5747" actId="20577"/>
          <ac:spMkLst>
            <pc:docMk/>
            <pc:sldMk cId="0" sldId="268"/>
            <ac:spMk id="4" creationId="{096A2EAF-5D8C-EBA9-F643-400C40401723}"/>
          </ac:spMkLst>
        </pc:spChg>
        <pc:spChg chg="mod">
          <ac:chgData name="Lok-Hung Lui" userId="18a7e92e-4208-41de-a482-a0aa6fd89d26" providerId="ADAL" clId="{FEA233CB-03EE-4342-AC7F-BE70D5B9A2EA}" dt="2025-11-14T00:02:10.842" v="3363" actId="1076"/>
          <ac:spMkLst>
            <pc:docMk/>
            <pc:sldMk cId="0" sldId="268"/>
            <ac:spMk id="6" creationId="{00000000-0000-0000-0000-000000000000}"/>
          </ac:spMkLst>
        </pc:spChg>
      </pc:sldChg>
      <pc:sldChg chg="addSp delSp modSp add mod setBg">
        <pc:chgData name="Lok-Hung Lui" userId="18a7e92e-4208-41de-a482-a0aa6fd89d26" providerId="ADAL" clId="{FEA233CB-03EE-4342-AC7F-BE70D5B9A2EA}" dt="2025-11-14T00:32:27.824" v="7287" actId="33524"/>
        <pc:sldMkLst>
          <pc:docMk/>
          <pc:sldMk cId="2279563668" sldId="269"/>
        </pc:sldMkLst>
        <pc:spChg chg="mod">
          <ac:chgData name="Lok-Hung Lui" userId="18a7e92e-4208-41de-a482-a0aa6fd89d26" providerId="ADAL" clId="{FEA233CB-03EE-4342-AC7F-BE70D5B9A2EA}" dt="2025-11-14T00:15:41.564" v="5780" actId="20577"/>
          <ac:spMkLst>
            <pc:docMk/>
            <pc:sldMk cId="2279563668" sldId="269"/>
            <ac:spMk id="2" creationId="{AA640F58-1FBE-C7DB-C886-16C6FC4C96E8}"/>
          </ac:spMkLst>
        </pc:spChg>
        <pc:spChg chg="add del mod">
          <ac:chgData name="Lok-Hung Lui" userId="18a7e92e-4208-41de-a482-a0aa6fd89d26" providerId="ADAL" clId="{FEA233CB-03EE-4342-AC7F-BE70D5B9A2EA}" dt="2025-11-14T00:32:27.824" v="7287" actId="33524"/>
          <ac:spMkLst>
            <pc:docMk/>
            <pc:sldMk cId="2279563668" sldId="269"/>
            <ac:spMk id="10" creationId="{E67530F7-CFBD-8B9D-7EA2-81BC6598726C}"/>
          </ac:spMkLst>
        </pc:spChg>
        <pc:picChg chg="del">
          <ac:chgData name="Lok-Hung Lui" userId="18a7e92e-4208-41de-a482-a0aa6fd89d26" providerId="ADAL" clId="{FEA233CB-03EE-4342-AC7F-BE70D5B9A2EA}" dt="2025-11-14T00:15:34.148" v="5750" actId="478"/>
          <ac:picMkLst>
            <pc:docMk/>
            <pc:sldMk cId="2279563668" sldId="269"/>
            <ac:picMk id="11" creationId="{90363D70-78CD-DFF3-6A4B-92A92DBD84AE}"/>
          </ac:picMkLst>
        </pc:picChg>
        <pc:picChg chg="del">
          <ac:chgData name="Lok-Hung Lui" userId="18a7e92e-4208-41de-a482-a0aa6fd89d26" providerId="ADAL" clId="{FEA233CB-03EE-4342-AC7F-BE70D5B9A2EA}" dt="2025-11-14T00:15:32.435" v="5748" actId="478"/>
          <ac:picMkLst>
            <pc:docMk/>
            <pc:sldMk cId="2279563668" sldId="269"/>
            <ac:picMk id="2050" creationId="{F7076E1E-BA16-F2BF-DCBE-126B8C7CA25F}"/>
          </ac:picMkLst>
        </pc:picChg>
        <pc:picChg chg="del">
          <ac:chgData name="Lok-Hung Lui" userId="18a7e92e-4208-41de-a482-a0aa6fd89d26" providerId="ADAL" clId="{FEA233CB-03EE-4342-AC7F-BE70D5B9A2EA}" dt="2025-11-14T00:15:32.999" v="5749" actId="478"/>
          <ac:picMkLst>
            <pc:docMk/>
            <pc:sldMk cId="2279563668" sldId="269"/>
            <ac:picMk id="2052" creationId="{9935B3A6-2EF2-B804-C98F-4939AE681454}"/>
          </ac:picMkLst>
        </pc:picChg>
      </pc:sldChg>
      <pc:sldChg chg="addSp modSp new mod">
        <pc:chgData name="Lok-Hung Lui" userId="18a7e92e-4208-41de-a482-a0aa6fd89d26" providerId="ADAL" clId="{FEA233CB-03EE-4342-AC7F-BE70D5B9A2EA}" dt="2025-11-14T00:43:55.293" v="7455" actId="1076"/>
        <pc:sldMkLst>
          <pc:docMk/>
          <pc:sldMk cId="309782967" sldId="270"/>
        </pc:sldMkLst>
        <pc:spChg chg="add mod">
          <ac:chgData name="Lok-Hung Lui" userId="18a7e92e-4208-41de-a482-a0aa6fd89d26" providerId="ADAL" clId="{FEA233CB-03EE-4342-AC7F-BE70D5B9A2EA}" dt="2025-11-14T00:43:34.746" v="7449" actId="1076"/>
          <ac:spMkLst>
            <pc:docMk/>
            <pc:sldMk cId="309782967" sldId="270"/>
            <ac:spMk id="2" creationId="{B1426157-27BE-A8E1-768F-A00D8E5D2EAD}"/>
          </ac:spMkLst>
        </pc:spChg>
        <pc:picChg chg="add mod">
          <ac:chgData name="Lok-Hung Lui" userId="18a7e92e-4208-41de-a482-a0aa6fd89d26" providerId="ADAL" clId="{FEA233CB-03EE-4342-AC7F-BE70D5B9A2EA}" dt="2025-11-14T00:43:55.293" v="7455" actId="1076"/>
          <ac:picMkLst>
            <pc:docMk/>
            <pc:sldMk cId="309782967" sldId="270"/>
            <ac:picMk id="5" creationId="{3376CC83-B941-864C-3928-7DE0DCADB3C7}"/>
          </ac:picMkLst>
        </pc:picChg>
      </pc:sldChg>
      <pc:sldChg chg="new del">
        <pc:chgData name="Lok-Hung Lui" userId="18a7e92e-4208-41de-a482-a0aa6fd89d26" providerId="ADAL" clId="{FEA233CB-03EE-4342-AC7F-BE70D5B9A2EA}" dt="2025-11-14T00:12:13.535" v="4970" actId="680"/>
        <pc:sldMkLst>
          <pc:docMk/>
          <pc:sldMk cId="579220446" sldId="270"/>
        </pc:sldMkLst>
      </pc:sldChg>
      <pc:sldChg chg="addSp delSp modSp new mod">
        <pc:chgData name="Lok-Hung Lui" userId="18a7e92e-4208-41de-a482-a0aa6fd89d26" providerId="ADAL" clId="{FEA233CB-03EE-4342-AC7F-BE70D5B9A2EA}" dt="2025-11-14T01:00:36.431" v="7965" actId="12"/>
        <pc:sldMkLst>
          <pc:docMk/>
          <pc:sldMk cId="247223215" sldId="271"/>
        </pc:sldMkLst>
        <pc:spChg chg="add mod">
          <ac:chgData name="Lok-Hung Lui" userId="18a7e92e-4208-41de-a482-a0aa6fd89d26" providerId="ADAL" clId="{FEA233CB-03EE-4342-AC7F-BE70D5B9A2EA}" dt="2025-11-14T00:45:49.110" v="7501" actId="20577"/>
          <ac:spMkLst>
            <pc:docMk/>
            <pc:sldMk cId="247223215" sldId="271"/>
            <ac:spMk id="2" creationId="{0AFFC7F2-FB4A-ACD7-C3D5-55930E1767BF}"/>
          </ac:spMkLst>
        </pc:spChg>
        <pc:spChg chg="add del mod">
          <ac:chgData name="Lok-Hung Lui" userId="18a7e92e-4208-41de-a482-a0aa6fd89d26" providerId="ADAL" clId="{FEA233CB-03EE-4342-AC7F-BE70D5B9A2EA}" dt="2025-11-14T00:47:28.214" v="7507"/>
          <ac:spMkLst>
            <pc:docMk/>
            <pc:sldMk cId="247223215" sldId="271"/>
            <ac:spMk id="3" creationId="{433D5121-1D36-6EE7-1A11-AB6D1BC6259B}"/>
          </ac:spMkLst>
        </pc:spChg>
        <pc:spChg chg="add del">
          <ac:chgData name="Lok-Hung Lui" userId="18a7e92e-4208-41de-a482-a0aa6fd89d26" providerId="ADAL" clId="{FEA233CB-03EE-4342-AC7F-BE70D5B9A2EA}" dt="2025-11-14T00:54:48.289" v="7630" actId="22"/>
          <ac:spMkLst>
            <pc:docMk/>
            <pc:sldMk cId="247223215" sldId="271"/>
            <ac:spMk id="5" creationId="{6C709633-3AAB-0DC2-CFB6-66C9B8F75E79}"/>
          </ac:spMkLst>
        </pc:spChg>
        <pc:spChg chg="add mod">
          <ac:chgData name="Lok-Hung Lui" userId="18a7e92e-4208-41de-a482-a0aa6fd89d26" providerId="ADAL" clId="{FEA233CB-03EE-4342-AC7F-BE70D5B9A2EA}" dt="2025-11-14T01:00:36.431" v="7965" actId="12"/>
          <ac:spMkLst>
            <pc:docMk/>
            <pc:sldMk cId="247223215" sldId="271"/>
            <ac:spMk id="6" creationId="{375499A5-EA9D-DAB5-270C-4CE56336B2F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hyperlink" Target="https://learn.microsoft.com/en-us/azure/architecture/icons/" TargetMode="External"/><Relationship Id="rId3" Type="http://schemas.openxmlformats.org/officeDocument/2006/relationships/hyperlink" Target="https://learn.microsoft.com/en-us/azure/azure-functions/" TargetMode="External"/><Relationship Id="rId7" Type="http://schemas.openxmlformats.org/officeDocument/2006/relationships/hyperlink" Target="https://learn.microsoft.com/en-us/azure/azure-monitor/app/app-insights-overview" TargetMode="External"/><Relationship Id="rId2" Type="http://schemas.openxmlformats.org/officeDocument/2006/relationships/hyperlink" Target="https://learn.microsoft.com/en-us/azure/static-web-apps/" TargetMode="External"/><Relationship Id="rId1" Type="http://schemas.openxmlformats.org/officeDocument/2006/relationships/slideLayout" Target="../slideLayouts/slideLayout7.xml"/><Relationship Id="rId6" Type="http://schemas.openxmlformats.org/officeDocument/2006/relationships/hyperlink" Target="https://learn.microsoft.com/en-us/azure/search/" TargetMode="External"/><Relationship Id="rId5" Type="http://schemas.openxmlformats.org/officeDocument/2006/relationships/hyperlink" Target="https://learn.microsoft.com/en-us/azure/storage/blobs/" TargetMode="External"/><Relationship Id="rId4" Type="http://schemas.openxmlformats.org/officeDocument/2006/relationships/hyperlink" Target="https://learn.microsoft.com/en-us/azure/cosmos-db/"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94635" y="7222229"/>
            <a:ext cx="3064771" cy="3064771"/>
          </a:xfrm>
          <a:custGeom>
            <a:avLst/>
            <a:gdLst/>
            <a:ahLst/>
            <a:cxnLst/>
            <a:rect l="l" t="t" r="r" b="b"/>
            <a:pathLst>
              <a:path w="3064771" h="3064771">
                <a:moveTo>
                  <a:pt x="0" y="0"/>
                </a:moveTo>
                <a:lnTo>
                  <a:pt x="3064772" y="0"/>
                </a:lnTo>
                <a:lnTo>
                  <a:pt x="3064772" y="3064771"/>
                </a:lnTo>
                <a:lnTo>
                  <a:pt x="0" y="3064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a:off x="14380706" y="494906"/>
            <a:ext cx="3907294" cy="2280439"/>
          </a:xfrm>
          <a:custGeom>
            <a:avLst/>
            <a:gdLst/>
            <a:ahLst/>
            <a:cxnLst/>
            <a:rect l="l" t="t" r="r" b="b"/>
            <a:pathLst>
              <a:path w="3907294" h="2280439">
                <a:moveTo>
                  <a:pt x="0" y="0"/>
                </a:moveTo>
                <a:lnTo>
                  <a:pt x="3907294" y="0"/>
                </a:lnTo>
                <a:lnTo>
                  <a:pt x="3907294" y="2280438"/>
                </a:lnTo>
                <a:lnTo>
                  <a:pt x="0" y="22804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dirty="0"/>
          </a:p>
        </p:txBody>
      </p:sp>
      <p:sp>
        <p:nvSpPr>
          <p:cNvPr id="4" name="TextBox 4"/>
          <p:cNvSpPr txBox="1"/>
          <p:nvPr/>
        </p:nvSpPr>
        <p:spPr>
          <a:xfrm>
            <a:off x="2247067" y="2775345"/>
            <a:ext cx="13793863" cy="2825197"/>
          </a:xfrm>
          <a:prstGeom prst="rect">
            <a:avLst/>
          </a:prstGeom>
        </p:spPr>
        <p:txBody>
          <a:bodyPr wrap="square" lIns="0" tIns="0" rIns="0" bIns="0" rtlCol="0" anchor="t">
            <a:spAutoFit/>
          </a:bodyPr>
          <a:lstStyle/>
          <a:p>
            <a:pPr algn="ctr">
              <a:lnSpc>
                <a:spcPts val="10800"/>
              </a:lnSpc>
            </a:pPr>
            <a:r>
              <a:rPr lang="en-US" sz="12000" dirty="0">
                <a:solidFill>
                  <a:srgbClr val="AD2C1F"/>
                </a:solidFill>
                <a:latin typeface="Caladea"/>
                <a:ea typeface="Caladea"/>
                <a:cs typeface="Caladea"/>
                <a:sym typeface="Caladea"/>
              </a:rPr>
              <a:t>UniShare Document Sharing Platform</a:t>
            </a:r>
          </a:p>
        </p:txBody>
      </p:sp>
      <p:sp>
        <p:nvSpPr>
          <p:cNvPr id="5" name="TextBox 5"/>
          <p:cNvSpPr txBox="1"/>
          <p:nvPr/>
        </p:nvSpPr>
        <p:spPr>
          <a:xfrm>
            <a:off x="3047166" y="5421397"/>
            <a:ext cx="12193664" cy="2459584"/>
          </a:xfrm>
          <a:prstGeom prst="rect">
            <a:avLst/>
          </a:prstGeom>
        </p:spPr>
        <p:txBody>
          <a:bodyPr wrap="square" lIns="0" tIns="0" rIns="0" bIns="0" rtlCol="0" anchor="t">
            <a:spAutoFit/>
          </a:bodyPr>
          <a:lstStyle/>
          <a:p>
            <a:pPr algn="ctr">
              <a:lnSpc>
                <a:spcPts val="6499"/>
              </a:lnSpc>
            </a:pPr>
            <a:r>
              <a:rPr lang="en-US" sz="4999" spc="89" dirty="0">
                <a:solidFill>
                  <a:srgbClr val="AD2C1F"/>
                </a:solidFill>
                <a:latin typeface="Caladea"/>
                <a:ea typeface="Caladea"/>
                <a:cs typeface="Caladea"/>
                <a:sym typeface="Caladea"/>
              </a:rPr>
              <a:t>A scalable web application enabling students and educators to upload, share, and search academic material</a:t>
            </a:r>
          </a:p>
        </p:txBody>
      </p:sp>
      <p:sp>
        <p:nvSpPr>
          <p:cNvPr id="6" name="TextBox 6"/>
          <p:cNvSpPr txBox="1"/>
          <p:nvPr/>
        </p:nvSpPr>
        <p:spPr>
          <a:xfrm>
            <a:off x="5076371" y="8986195"/>
            <a:ext cx="8135247" cy="1300805"/>
          </a:xfrm>
          <a:prstGeom prst="rect">
            <a:avLst/>
          </a:prstGeom>
        </p:spPr>
        <p:txBody>
          <a:bodyPr wrap="square" lIns="0" tIns="0" rIns="0" bIns="0" rtlCol="0" anchor="t">
            <a:spAutoFit/>
          </a:bodyPr>
          <a:lstStyle/>
          <a:p>
            <a:pPr algn="ctr">
              <a:lnSpc>
                <a:spcPts val="5199"/>
              </a:lnSpc>
            </a:pPr>
            <a:r>
              <a:rPr lang="en-US" sz="3999" b="1" spc="71" dirty="0">
                <a:solidFill>
                  <a:srgbClr val="AD2C1F"/>
                </a:solidFill>
                <a:latin typeface="Caladea Bold"/>
                <a:ea typeface="Caladea Bold"/>
                <a:cs typeface="Caladea Bold"/>
                <a:sym typeface="Caladea Bold"/>
              </a:rPr>
              <a:t>Presented by : Lok-Hung Lui</a:t>
            </a:r>
          </a:p>
          <a:p>
            <a:pPr algn="ctr">
              <a:lnSpc>
                <a:spcPts val="5199"/>
              </a:lnSpc>
            </a:pPr>
            <a:r>
              <a:rPr lang="en-US" sz="3999" b="1" spc="71" dirty="0">
                <a:solidFill>
                  <a:srgbClr val="AD2C1F"/>
                </a:solidFill>
                <a:latin typeface="Caladea Bold"/>
                <a:ea typeface="Caladea Bold"/>
                <a:cs typeface="Caladea Bold"/>
                <a:sym typeface="Caladea Bold"/>
              </a:rPr>
              <a:t>B00938238</a:t>
            </a:r>
          </a:p>
        </p:txBody>
      </p:sp>
      <p:sp>
        <p:nvSpPr>
          <p:cNvPr id="7" name="TextBox 7"/>
          <p:cNvSpPr txBox="1"/>
          <p:nvPr/>
        </p:nvSpPr>
        <p:spPr>
          <a:xfrm>
            <a:off x="4292971" y="254872"/>
            <a:ext cx="9702049" cy="480068"/>
          </a:xfrm>
          <a:prstGeom prst="rect">
            <a:avLst/>
          </a:prstGeom>
        </p:spPr>
        <p:txBody>
          <a:bodyPr wrap="square" lIns="0" tIns="0" rIns="0" bIns="0" rtlCol="0" anchor="t">
            <a:spAutoFit/>
          </a:bodyPr>
          <a:lstStyle/>
          <a:p>
            <a:pPr algn="ctr">
              <a:lnSpc>
                <a:spcPts val="3599"/>
              </a:lnSpc>
            </a:pPr>
            <a:r>
              <a:rPr lang="en-US" sz="3999" b="1" spc="-247" dirty="0">
                <a:solidFill>
                  <a:srgbClr val="AD2C1F"/>
                </a:solidFill>
                <a:latin typeface="Caladea Bold"/>
                <a:ea typeface="Caladea Bold"/>
                <a:cs typeface="Caladea Bold"/>
                <a:sym typeface="Caladea Bold"/>
              </a:rPr>
              <a:t>COM682 Cloud Native Development CW1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0" y="-215443"/>
            <a:ext cx="2972863" cy="2972863"/>
          </a:xfrm>
          <a:custGeom>
            <a:avLst/>
            <a:gdLst/>
            <a:ahLst/>
            <a:cxnLst/>
            <a:rect l="l" t="t" r="r" b="b"/>
            <a:pathLst>
              <a:path w="2972863" h="2972863">
                <a:moveTo>
                  <a:pt x="0" y="0"/>
                </a:moveTo>
                <a:lnTo>
                  <a:pt x="2972863" y="0"/>
                </a:lnTo>
                <a:lnTo>
                  <a:pt x="2972863" y="2972862"/>
                </a:lnTo>
                <a:lnTo>
                  <a:pt x="0" y="2972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flipH="1" flipV="1">
            <a:off x="15530581" y="7529581"/>
            <a:ext cx="3026723" cy="3026723"/>
          </a:xfrm>
          <a:custGeom>
            <a:avLst/>
            <a:gdLst/>
            <a:ahLst/>
            <a:cxnLst/>
            <a:rect l="l" t="t" r="r" b="b"/>
            <a:pathLst>
              <a:path w="3026723" h="3026723">
                <a:moveTo>
                  <a:pt x="3026723" y="3026723"/>
                </a:moveTo>
                <a:lnTo>
                  <a:pt x="0" y="3026723"/>
                </a:lnTo>
                <a:lnTo>
                  <a:pt x="0" y="0"/>
                </a:lnTo>
                <a:lnTo>
                  <a:pt x="3026723" y="0"/>
                </a:lnTo>
                <a:lnTo>
                  <a:pt x="3026723" y="3026723"/>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4" name="TextBox 4"/>
          <p:cNvSpPr txBox="1"/>
          <p:nvPr/>
        </p:nvSpPr>
        <p:spPr>
          <a:xfrm>
            <a:off x="3749279" y="381006"/>
            <a:ext cx="11352127" cy="1200137"/>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Problem Definition</a:t>
            </a:r>
          </a:p>
        </p:txBody>
      </p:sp>
      <p:sp>
        <p:nvSpPr>
          <p:cNvPr id="5" name="TextBox 5"/>
          <p:cNvSpPr txBox="1"/>
          <p:nvPr/>
        </p:nvSpPr>
        <p:spPr>
          <a:xfrm>
            <a:off x="4000172" y="2552700"/>
            <a:ext cx="10850339" cy="5601533"/>
          </a:xfrm>
          <a:prstGeom prst="rect">
            <a:avLst/>
          </a:prstGeom>
        </p:spPr>
        <p:txBody>
          <a:bodyPr wrap="square" lIns="0" tIns="0" rIns="0" bIns="0" rtlCol="0" anchor="t">
            <a:spAutoFit/>
          </a:bodyPr>
          <a:lstStyle/>
          <a:p>
            <a:r>
              <a:rPr lang="en-GB" sz="2800" dirty="0">
                <a:solidFill>
                  <a:srgbClr val="AD2C1F"/>
                </a:solidFill>
                <a:latin typeface="+mj-lt"/>
              </a:rPr>
              <a:t>While platforms like Blackboard are crucial for official course content, they lack tools for peer-to-peer sharing. In practice this means students resort to fragmented methods of sharing files e.g. emails and messaging apps, leading to disorganised knowledge, difficult to recover later, prevents the community benefiting from useful notes and materials.</a:t>
            </a:r>
          </a:p>
          <a:p>
            <a:endParaRPr lang="en-GB" sz="2800" dirty="0">
              <a:solidFill>
                <a:srgbClr val="AD2C1F"/>
              </a:solidFill>
              <a:latin typeface="+mj-lt"/>
            </a:endParaRPr>
          </a:p>
          <a:p>
            <a:r>
              <a:rPr lang="en-GB" sz="2800" dirty="0">
                <a:solidFill>
                  <a:srgbClr val="AD2C1F"/>
                </a:solidFill>
                <a:latin typeface="+mj-lt"/>
              </a:rPr>
              <a:t>Creating a dedicated platform for this purpose creates a centralised, shared resource pool, though introduces many technical challenges, mainly around handling unpredictable traffic bursts. An example is during exam season, the system must support a large influx of students uploading, downloading and searching notes. A traditional self-managed server would likely be overwhelmed by these sudden spikes, which is the problem cloud-native architecture was made to solve.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94635" y="7222229"/>
            <a:ext cx="3064771" cy="3064771"/>
          </a:xfrm>
          <a:custGeom>
            <a:avLst/>
            <a:gdLst/>
            <a:ahLst/>
            <a:cxnLst/>
            <a:rect l="l" t="t" r="r" b="b"/>
            <a:pathLst>
              <a:path w="3064771" h="3064771">
                <a:moveTo>
                  <a:pt x="0" y="0"/>
                </a:moveTo>
                <a:lnTo>
                  <a:pt x="3064772" y="0"/>
                </a:lnTo>
                <a:lnTo>
                  <a:pt x="3064772" y="3064771"/>
                </a:lnTo>
                <a:lnTo>
                  <a:pt x="0" y="3064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a:off x="14380706" y="494906"/>
            <a:ext cx="3907294" cy="2280439"/>
          </a:xfrm>
          <a:custGeom>
            <a:avLst/>
            <a:gdLst/>
            <a:ahLst/>
            <a:cxnLst/>
            <a:rect l="l" t="t" r="r" b="b"/>
            <a:pathLst>
              <a:path w="3907294" h="2280439">
                <a:moveTo>
                  <a:pt x="0" y="0"/>
                </a:moveTo>
                <a:lnTo>
                  <a:pt x="3907294" y="0"/>
                </a:lnTo>
                <a:lnTo>
                  <a:pt x="3907294" y="2280438"/>
                </a:lnTo>
                <a:lnTo>
                  <a:pt x="0" y="22804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dirty="0"/>
          </a:p>
        </p:txBody>
      </p:sp>
      <p:sp>
        <p:nvSpPr>
          <p:cNvPr id="6" name="TextBox 6"/>
          <p:cNvSpPr txBox="1"/>
          <p:nvPr/>
        </p:nvSpPr>
        <p:spPr>
          <a:xfrm>
            <a:off x="3622757" y="26949"/>
            <a:ext cx="11042485" cy="1200137"/>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Chosen Architecture</a:t>
            </a:r>
          </a:p>
        </p:txBody>
      </p:sp>
      <p:sp>
        <p:nvSpPr>
          <p:cNvPr id="7" name="TextBox 7"/>
          <p:cNvSpPr txBox="1"/>
          <p:nvPr/>
        </p:nvSpPr>
        <p:spPr>
          <a:xfrm>
            <a:off x="3303052" y="1043919"/>
            <a:ext cx="11042485" cy="8576772"/>
          </a:xfrm>
          <a:prstGeom prst="rect">
            <a:avLst/>
          </a:prstGeom>
        </p:spPr>
        <p:txBody>
          <a:bodyPr lIns="0" tIns="0" rIns="0" bIns="0" rtlCol="0" anchor="t">
            <a:spAutoFit/>
          </a:bodyPr>
          <a:lstStyle/>
          <a:p>
            <a:pPr marL="457200" indent="-457200">
              <a:lnSpc>
                <a:spcPts val="4160"/>
              </a:lnSpc>
              <a:buFont typeface="Arial" panose="020B0604020202020204" pitchFamily="34" charset="0"/>
              <a:buChar char="•"/>
            </a:pPr>
            <a:r>
              <a:rPr lang="en-US" sz="2800" spc="57" dirty="0">
                <a:solidFill>
                  <a:srgbClr val="AD2C1F"/>
                </a:solidFill>
                <a:latin typeface="Caladea"/>
                <a:ea typeface="Caladea"/>
                <a:cs typeface="Caladea"/>
                <a:sym typeface="Caladea"/>
              </a:rPr>
              <a:t>UniShare employs a serverless microservices architecture using Azure.</a:t>
            </a:r>
          </a:p>
          <a:p>
            <a:pPr marL="457200" indent="-457200">
              <a:lnSpc>
                <a:spcPts val="4160"/>
              </a:lnSpc>
              <a:buFont typeface="Arial" panose="020B0604020202020204" pitchFamily="34" charset="0"/>
              <a:buChar char="•"/>
            </a:pPr>
            <a:endParaRPr lang="en-US" sz="2800" spc="57" dirty="0">
              <a:solidFill>
                <a:srgbClr val="AD2C1F"/>
              </a:solidFill>
              <a:latin typeface="Caladea"/>
              <a:ea typeface="Caladea"/>
              <a:cs typeface="Caladea"/>
              <a:sym typeface="Caladea"/>
            </a:endParaRPr>
          </a:p>
          <a:p>
            <a:pPr marL="457200" indent="-457200">
              <a:lnSpc>
                <a:spcPts val="4160"/>
              </a:lnSpc>
              <a:buFont typeface="Arial" panose="020B0604020202020204" pitchFamily="34" charset="0"/>
              <a:buChar char="•"/>
            </a:pPr>
            <a:r>
              <a:rPr lang="en-US" sz="2800" spc="57" dirty="0">
                <a:solidFill>
                  <a:srgbClr val="AD2C1F"/>
                </a:solidFill>
                <a:latin typeface="Caladea"/>
                <a:ea typeface="Caladea"/>
                <a:cs typeface="Caladea"/>
                <a:sym typeface="Caladea"/>
              </a:rPr>
              <a:t>A traditional N-Tier monolith was rejected due to its coupling and inefficient scaling. Since any update requires a full re-deployment, and its static scaling model proves costly for variable workloads</a:t>
            </a:r>
          </a:p>
          <a:p>
            <a:pPr marL="457200" indent="-457200">
              <a:lnSpc>
                <a:spcPts val="4160"/>
              </a:lnSpc>
              <a:buFont typeface="Arial" panose="020B0604020202020204" pitchFamily="34" charset="0"/>
              <a:buChar char="•"/>
            </a:pPr>
            <a:endParaRPr lang="en-US" sz="2800" spc="57" dirty="0">
              <a:solidFill>
                <a:srgbClr val="AD2C1F"/>
              </a:solidFill>
              <a:latin typeface="Caladea"/>
              <a:ea typeface="Caladea"/>
              <a:cs typeface="Caladea"/>
              <a:sym typeface="Caladea"/>
            </a:endParaRPr>
          </a:p>
          <a:p>
            <a:pPr marL="457200" indent="-457200">
              <a:lnSpc>
                <a:spcPts val="4160"/>
              </a:lnSpc>
              <a:buFont typeface="Arial" panose="020B0604020202020204" pitchFamily="34" charset="0"/>
              <a:buChar char="•"/>
            </a:pPr>
            <a:r>
              <a:rPr lang="en-US" sz="2800" spc="57" dirty="0">
                <a:solidFill>
                  <a:srgbClr val="AD2C1F"/>
                </a:solidFill>
                <a:latin typeface="Caladea"/>
                <a:ea typeface="Caladea"/>
                <a:cs typeface="Caladea"/>
                <a:sym typeface="Caladea"/>
              </a:rPr>
              <a:t>The Microservices approach provides the necessary independence, each de-coupled service enables independent development, deployment, and scaling. This improves efficiency and cost effectiveness</a:t>
            </a:r>
          </a:p>
          <a:p>
            <a:pPr marL="457200" indent="-457200">
              <a:lnSpc>
                <a:spcPts val="4160"/>
              </a:lnSpc>
              <a:buFont typeface="Arial" panose="020B0604020202020204" pitchFamily="34" charset="0"/>
              <a:buChar char="•"/>
            </a:pPr>
            <a:br>
              <a:rPr lang="en-US" sz="2800" spc="57" dirty="0">
                <a:solidFill>
                  <a:srgbClr val="AD2C1F"/>
                </a:solidFill>
                <a:latin typeface="Caladea"/>
                <a:ea typeface="Caladea"/>
                <a:cs typeface="Caladea"/>
                <a:sym typeface="Caladea"/>
              </a:rPr>
            </a:br>
            <a:r>
              <a:rPr lang="en-US" sz="2800" spc="57" dirty="0">
                <a:solidFill>
                  <a:srgbClr val="AD2C1F"/>
                </a:solidFill>
                <a:latin typeface="Caladea"/>
                <a:ea typeface="Caladea"/>
                <a:cs typeface="Caladea"/>
                <a:sym typeface="Caladea"/>
              </a:rPr>
              <a:t>Using Azure Functions makes this model serverless, delivering automatic, event-driven scaling with a cost-effective pay-per-use model which makes it suitable for the applications unpredictable traffic, ability to scale to zero when not in use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0" y="-233397"/>
            <a:ext cx="2990816" cy="2990816"/>
          </a:xfrm>
          <a:custGeom>
            <a:avLst/>
            <a:gdLst/>
            <a:ahLst/>
            <a:cxnLst/>
            <a:rect l="l" t="t" r="r" b="b"/>
            <a:pathLst>
              <a:path w="2990816" h="2990816">
                <a:moveTo>
                  <a:pt x="0" y="0"/>
                </a:moveTo>
                <a:lnTo>
                  <a:pt x="2990816" y="0"/>
                </a:lnTo>
                <a:lnTo>
                  <a:pt x="2990816" y="2990816"/>
                </a:lnTo>
                <a:lnTo>
                  <a:pt x="0" y="29908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flipH="1" flipV="1">
            <a:off x="15530581" y="7529581"/>
            <a:ext cx="3026723" cy="3026723"/>
          </a:xfrm>
          <a:custGeom>
            <a:avLst/>
            <a:gdLst/>
            <a:ahLst/>
            <a:cxnLst/>
            <a:rect l="l" t="t" r="r" b="b"/>
            <a:pathLst>
              <a:path w="3026723" h="3026723">
                <a:moveTo>
                  <a:pt x="3026723" y="3026723"/>
                </a:moveTo>
                <a:lnTo>
                  <a:pt x="0" y="3026723"/>
                </a:lnTo>
                <a:lnTo>
                  <a:pt x="0" y="0"/>
                </a:lnTo>
                <a:lnTo>
                  <a:pt x="3026723" y="0"/>
                </a:lnTo>
                <a:lnTo>
                  <a:pt x="3026723" y="3026723"/>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6" name="TextBox 6"/>
          <p:cNvSpPr txBox="1"/>
          <p:nvPr/>
        </p:nvSpPr>
        <p:spPr>
          <a:xfrm>
            <a:off x="4038600" y="438289"/>
            <a:ext cx="11198285" cy="2354299"/>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Solution Architecture Diagram</a:t>
            </a:r>
          </a:p>
        </p:txBody>
      </p:sp>
      <p:pic>
        <p:nvPicPr>
          <p:cNvPr id="8" name="Content Placeholder 6" descr="A diagram of a software system&#10;&#10;AI-generated content may be incorrect.">
            <a:extLst>
              <a:ext uri="{FF2B5EF4-FFF2-40B4-BE49-F238E27FC236}">
                <a16:creationId xmlns:a16="http://schemas.microsoft.com/office/drawing/2014/main" id="{5A202532-0855-D0E3-BC1B-59B28427F1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400" y="2962687"/>
            <a:ext cx="11198285" cy="6718970"/>
          </a:xfrm>
          <a:prstGeom prst="rect">
            <a:avLst/>
          </a:prstGeom>
        </p:spPr>
      </p:pic>
      <p:sp>
        <p:nvSpPr>
          <p:cNvPr id="4" name="TextBox 7">
            <a:extLst>
              <a:ext uri="{FF2B5EF4-FFF2-40B4-BE49-F238E27FC236}">
                <a16:creationId xmlns:a16="http://schemas.microsoft.com/office/drawing/2014/main" id="{95456819-861E-A63C-CD5E-86AFC38F0553}"/>
              </a:ext>
            </a:extLst>
          </p:cNvPr>
          <p:cNvSpPr txBox="1"/>
          <p:nvPr/>
        </p:nvSpPr>
        <p:spPr>
          <a:xfrm>
            <a:off x="2445327" y="9820083"/>
            <a:ext cx="5999620"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Source : Own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94635" y="7222229"/>
            <a:ext cx="3064771" cy="3064771"/>
          </a:xfrm>
          <a:custGeom>
            <a:avLst/>
            <a:gdLst/>
            <a:ahLst/>
            <a:cxnLst/>
            <a:rect l="l" t="t" r="r" b="b"/>
            <a:pathLst>
              <a:path w="3064771" h="3064771">
                <a:moveTo>
                  <a:pt x="0" y="0"/>
                </a:moveTo>
                <a:lnTo>
                  <a:pt x="3064772" y="0"/>
                </a:lnTo>
                <a:lnTo>
                  <a:pt x="3064772" y="3064771"/>
                </a:lnTo>
                <a:lnTo>
                  <a:pt x="0" y="3064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a:off x="14380706" y="494906"/>
            <a:ext cx="3907294" cy="2280439"/>
          </a:xfrm>
          <a:custGeom>
            <a:avLst/>
            <a:gdLst/>
            <a:ahLst/>
            <a:cxnLst/>
            <a:rect l="l" t="t" r="r" b="b"/>
            <a:pathLst>
              <a:path w="3907294" h="2280439">
                <a:moveTo>
                  <a:pt x="0" y="0"/>
                </a:moveTo>
                <a:lnTo>
                  <a:pt x="3907294" y="0"/>
                </a:lnTo>
                <a:lnTo>
                  <a:pt x="3907294" y="2280438"/>
                </a:lnTo>
                <a:lnTo>
                  <a:pt x="0" y="22804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dirty="0"/>
          </a:p>
        </p:txBody>
      </p:sp>
      <p:sp>
        <p:nvSpPr>
          <p:cNvPr id="6" name="TextBox 6"/>
          <p:cNvSpPr txBox="1"/>
          <p:nvPr/>
        </p:nvSpPr>
        <p:spPr>
          <a:xfrm>
            <a:off x="457200" y="1035056"/>
            <a:ext cx="11887200" cy="1200137"/>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Webpage Wireframe</a:t>
            </a:r>
          </a:p>
        </p:txBody>
      </p:sp>
      <p:pic>
        <p:nvPicPr>
          <p:cNvPr id="9" name="Picture 8" descr="A screenshot of a search bar&#10;&#10;AI-generated content may be incorrect.">
            <a:extLst>
              <a:ext uri="{FF2B5EF4-FFF2-40B4-BE49-F238E27FC236}">
                <a16:creationId xmlns:a16="http://schemas.microsoft.com/office/drawing/2014/main" id="{64B6F403-B1D3-91AE-053F-481618EE9F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43105" y="2341107"/>
            <a:ext cx="11401790" cy="6413507"/>
          </a:xfrm>
          <a:prstGeom prst="rect">
            <a:avLst/>
          </a:prstGeom>
        </p:spPr>
      </p:pic>
      <p:sp>
        <p:nvSpPr>
          <p:cNvPr id="4" name="TextBox 3">
            <a:extLst>
              <a:ext uri="{FF2B5EF4-FFF2-40B4-BE49-F238E27FC236}">
                <a16:creationId xmlns:a16="http://schemas.microsoft.com/office/drawing/2014/main" id="{C2729E1A-63CA-2B34-8633-9C83E7639D8C}"/>
              </a:ext>
            </a:extLst>
          </p:cNvPr>
          <p:cNvSpPr txBox="1"/>
          <p:nvPr/>
        </p:nvSpPr>
        <p:spPr>
          <a:xfrm>
            <a:off x="3810000" y="9182100"/>
            <a:ext cx="11125200" cy="369332"/>
          </a:xfrm>
          <a:prstGeom prst="rect">
            <a:avLst/>
          </a:prstGeom>
          <a:noFill/>
        </p:spPr>
        <p:txBody>
          <a:bodyPr wrap="square" rtlCol="0">
            <a:spAutoFit/>
          </a:bodyPr>
          <a:lstStyle/>
          <a:p>
            <a:r>
              <a:rPr lang="en-GB" dirty="0">
                <a:solidFill>
                  <a:srgbClr val="AD2C1F"/>
                </a:solidFill>
                <a:latin typeface="+mj-lt"/>
              </a:rPr>
              <a:t>Home Page, Home/Upload/Login Buttons, Search Bar,  Example Uploads, Example Filters, </a:t>
            </a:r>
          </a:p>
        </p:txBody>
      </p:sp>
      <p:sp>
        <p:nvSpPr>
          <p:cNvPr id="5" name="TextBox 7">
            <a:extLst>
              <a:ext uri="{FF2B5EF4-FFF2-40B4-BE49-F238E27FC236}">
                <a16:creationId xmlns:a16="http://schemas.microsoft.com/office/drawing/2014/main" id="{32A30A89-16E4-F374-034F-206E9FED2C8A}"/>
              </a:ext>
            </a:extLst>
          </p:cNvPr>
          <p:cNvSpPr txBox="1"/>
          <p:nvPr/>
        </p:nvSpPr>
        <p:spPr>
          <a:xfrm>
            <a:off x="3144380" y="9771592"/>
            <a:ext cx="5999620"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Source : Own 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0" y="-161583"/>
            <a:ext cx="2919002" cy="2919002"/>
          </a:xfrm>
          <a:custGeom>
            <a:avLst/>
            <a:gdLst/>
            <a:ahLst/>
            <a:cxnLst/>
            <a:rect l="l" t="t" r="r" b="b"/>
            <a:pathLst>
              <a:path w="2919002" h="2919002">
                <a:moveTo>
                  <a:pt x="0" y="0"/>
                </a:moveTo>
                <a:lnTo>
                  <a:pt x="2919002" y="0"/>
                </a:lnTo>
                <a:lnTo>
                  <a:pt x="2919002" y="2919002"/>
                </a:lnTo>
                <a:lnTo>
                  <a:pt x="0" y="29190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flipH="1" flipV="1">
            <a:off x="15606781" y="7685179"/>
            <a:ext cx="2757419" cy="2757419"/>
          </a:xfrm>
          <a:custGeom>
            <a:avLst/>
            <a:gdLst/>
            <a:ahLst/>
            <a:cxnLst/>
            <a:rect l="l" t="t" r="r" b="b"/>
            <a:pathLst>
              <a:path w="2757419" h="2757419">
                <a:moveTo>
                  <a:pt x="2757419" y="2757419"/>
                </a:moveTo>
                <a:lnTo>
                  <a:pt x="0" y="2757419"/>
                </a:lnTo>
                <a:lnTo>
                  <a:pt x="0" y="0"/>
                </a:lnTo>
                <a:lnTo>
                  <a:pt x="2757419" y="0"/>
                </a:lnTo>
                <a:lnTo>
                  <a:pt x="2757419" y="275741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4" name="TextBox 4"/>
          <p:cNvSpPr txBox="1"/>
          <p:nvPr/>
        </p:nvSpPr>
        <p:spPr>
          <a:xfrm>
            <a:off x="4545346" y="1304925"/>
            <a:ext cx="9623407" cy="1200137"/>
          </a:xfrm>
          <a:prstGeom prst="rect">
            <a:avLst/>
          </a:prstGeom>
        </p:spPr>
        <p:txBody>
          <a:bodyPr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Database Schema</a:t>
            </a:r>
          </a:p>
        </p:txBody>
      </p:sp>
      <p:sp>
        <p:nvSpPr>
          <p:cNvPr id="11" name="TextBox 11"/>
          <p:cNvSpPr txBox="1"/>
          <p:nvPr/>
        </p:nvSpPr>
        <p:spPr>
          <a:xfrm>
            <a:off x="1379220" y="3035670"/>
            <a:ext cx="8293867" cy="6517938"/>
          </a:xfrm>
          <a:prstGeom prst="rect">
            <a:avLst/>
          </a:prstGeom>
        </p:spPr>
        <p:txBody>
          <a:bodyPr wrap="square" lIns="0" tIns="0" rIns="0" bIns="0" rtlCol="0" anchor="t">
            <a:spAutoFit/>
          </a:bodyPr>
          <a:lstStyle/>
          <a:p>
            <a:pPr algn="just">
              <a:lnSpc>
                <a:spcPts val="3368"/>
              </a:lnSpc>
            </a:pPr>
            <a:r>
              <a:rPr lang="en-US" sz="2591" spc="46" dirty="0">
                <a:solidFill>
                  <a:srgbClr val="AD2C1F"/>
                </a:solidFill>
                <a:latin typeface="Caladea"/>
                <a:ea typeface="Caladea"/>
                <a:cs typeface="Caladea"/>
                <a:sym typeface="Caladea"/>
              </a:rPr>
              <a:t>Hybrid Data Architecture</a:t>
            </a:r>
          </a:p>
          <a:p>
            <a:pPr algn="just">
              <a:lnSpc>
                <a:spcPts val="3368"/>
              </a:lnSpc>
            </a:pPr>
            <a:r>
              <a:rPr lang="en-US" sz="2591" spc="46" dirty="0">
                <a:solidFill>
                  <a:srgbClr val="AD2C1F"/>
                </a:solidFill>
                <a:latin typeface="Caladea"/>
                <a:ea typeface="Caladea"/>
                <a:cs typeface="Caladea"/>
                <a:sym typeface="Caladea"/>
              </a:rPr>
              <a:t>UniShare uses a combination of Azure Cosmos DB and Azure Blob Storage to efficiently handle different data types : </a:t>
            </a:r>
          </a:p>
          <a:p>
            <a:pPr algn="just">
              <a:lnSpc>
                <a:spcPts val="3368"/>
              </a:lnSpc>
            </a:pPr>
            <a:endParaRPr lang="en-US" sz="2591" spc="46" dirty="0">
              <a:solidFill>
                <a:srgbClr val="AD2C1F"/>
              </a:solidFill>
              <a:latin typeface="Caladea"/>
              <a:ea typeface="Caladea"/>
              <a:cs typeface="Caladea"/>
              <a:sym typeface="Caladea"/>
            </a:endParaRPr>
          </a:p>
          <a:p>
            <a:pPr algn="just">
              <a:lnSpc>
                <a:spcPts val="3368"/>
              </a:lnSpc>
            </a:pPr>
            <a:r>
              <a:rPr lang="en-US" sz="2591" spc="46" dirty="0">
                <a:solidFill>
                  <a:srgbClr val="AD2C1F"/>
                </a:solidFill>
                <a:latin typeface="Caladea"/>
                <a:ea typeface="Caladea"/>
                <a:cs typeface="Caladea"/>
                <a:sym typeface="Caladea"/>
              </a:rPr>
              <a:t>Azure Cosmos DB (NoSQL)</a:t>
            </a:r>
          </a:p>
          <a:p>
            <a:pPr marL="457200" indent="-457200" algn="just">
              <a:lnSpc>
                <a:spcPts val="3368"/>
              </a:lnSpc>
              <a:buFontTx/>
              <a:buChar char="-"/>
            </a:pPr>
            <a:r>
              <a:rPr lang="en-US" sz="2591" spc="46" dirty="0">
                <a:solidFill>
                  <a:srgbClr val="AD2C1F"/>
                </a:solidFill>
                <a:latin typeface="Caladea"/>
                <a:ea typeface="Caladea"/>
                <a:cs typeface="Caladea"/>
                <a:sym typeface="Caladea"/>
              </a:rPr>
              <a:t>Stores document metadata and user information</a:t>
            </a:r>
          </a:p>
          <a:p>
            <a:pPr marL="457200" indent="-457200" algn="just">
              <a:lnSpc>
                <a:spcPts val="3368"/>
              </a:lnSpc>
              <a:buFontTx/>
              <a:buChar char="-"/>
            </a:pPr>
            <a:r>
              <a:rPr lang="en-US" sz="2591" spc="46" dirty="0">
                <a:solidFill>
                  <a:srgbClr val="AD2C1F"/>
                </a:solidFill>
                <a:latin typeface="Caladea"/>
                <a:ea typeface="Caladea"/>
                <a:cs typeface="Caladea"/>
                <a:sym typeface="Caladea"/>
              </a:rPr>
              <a:t>Flexible JSON format, perfect for the titles, description, tags, and engagement data</a:t>
            </a:r>
          </a:p>
          <a:p>
            <a:pPr marL="457200" indent="-457200" algn="just">
              <a:lnSpc>
                <a:spcPts val="3368"/>
              </a:lnSpc>
              <a:buFontTx/>
              <a:buChar char="-"/>
            </a:pPr>
            <a:r>
              <a:rPr lang="en-US" sz="2591" spc="46" dirty="0">
                <a:solidFill>
                  <a:srgbClr val="AD2C1F"/>
                </a:solidFill>
                <a:latin typeface="Caladea"/>
                <a:ea typeface="Caladea"/>
                <a:cs typeface="Caladea"/>
                <a:sym typeface="Caladea"/>
              </a:rPr>
              <a:t>Fast queries for searching and filtering</a:t>
            </a:r>
          </a:p>
          <a:p>
            <a:pPr marL="457200" indent="-457200" algn="just">
              <a:lnSpc>
                <a:spcPts val="3368"/>
              </a:lnSpc>
              <a:buFontTx/>
              <a:buChar char="-"/>
            </a:pPr>
            <a:endParaRPr lang="en-US" sz="2591" spc="46" dirty="0">
              <a:solidFill>
                <a:srgbClr val="AD2C1F"/>
              </a:solidFill>
              <a:latin typeface="Caladea"/>
              <a:ea typeface="Caladea"/>
              <a:cs typeface="Caladea"/>
              <a:sym typeface="Caladea"/>
            </a:endParaRPr>
          </a:p>
          <a:p>
            <a:pPr algn="just">
              <a:lnSpc>
                <a:spcPts val="3368"/>
              </a:lnSpc>
            </a:pPr>
            <a:r>
              <a:rPr lang="en-US" sz="2591" spc="46" dirty="0">
                <a:solidFill>
                  <a:srgbClr val="AD2C1F"/>
                </a:solidFill>
                <a:latin typeface="Caladea"/>
                <a:ea typeface="Caladea"/>
                <a:cs typeface="Caladea"/>
                <a:sym typeface="Caladea"/>
              </a:rPr>
              <a:t>Azure Blob Storage</a:t>
            </a:r>
          </a:p>
          <a:p>
            <a:pPr marL="457200" indent="-457200" algn="just">
              <a:lnSpc>
                <a:spcPts val="3368"/>
              </a:lnSpc>
              <a:buFontTx/>
              <a:buChar char="-"/>
            </a:pPr>
            <a:r>
              <a:rPr lang="en-US" sz="2591" spc="46" dirty="0">
                <a:solidFill>
                  <a:srgbClr val="AD2C1F"/>
                </a:solidFill>
                <a:latin typeface="Caladea"/>
                <a:ea typeface="Caladea"/>
                <a:cs typeface="Caladea"/>
                <a:sym typeface="Caladea"/>
              </a:rPr>
              <a:t>Stores the actual PDFs, PPTXs, and images</a:t>
            </a:r>
          </a:p>
          <a:p>
            <a:pPr marL="457200" indent="-457200" algn="just">
              <a:lnSpc>
                <a:spcPts val="3368"/>
              </a:lnSpc>
              <a:buFontTx/>
              <a:buChar char="-"/>
            </a:pPr>
            <a:r>
              <a:rPr lang="en-US" sz="2591" spc="46" dirty="0">
                <a:solidFill>
                  <a:srgbClr val="AD2C1F"/>
                </a:solidFill>
                <a:latin typeface="Caladea"/>
                <a:ea typeface="Caladea"/>
                <a:cs typeface="Caladea"/>
                <a:sym typeface="Caladea"/>
              </a:rPr>
              <a:t>Cost-effective for large binary data</a:t>
            </a:r>
          </a:p>
          <a:p>
            <a:pPr marL="457200" indent="-457200" algn="just">
              <a:lnSpc>
                <a:spcPts val="3368"/>
              </a:lnSpc>
              <a:buFontTx/>
              <a:buChar char="-"/>
            </a:pPr>
            <a:r>
              <a:rPr lang="en-US" sz="2591" spc="46" dirty="0">
                <a:solidFill>
                  <a:srgbClr val="AD2C1F"/>
                </a:solidFill>
                <a:latin typeface="Caladea"/>
                <a:ea typeface="Caladea"/>
                <a:cs typeface="Caladea"/>
                <a:sym typeface="Caladea"/>
              </a:rPr>
              <a:t>Scales automatically with demand</a:t>
            </a:r>
          </a:p>
        </p:txBody>
      </p:sp>
      <p:pic>
        <p:nvPicPr>
          <p:cNvPr id="15" name="Content Placeholder 8" descr="A screenshot of a computer&#10;&#10;AI-generated content may be incorrect.">
            <a:extLst>
              <a:ext uri="{FF2B5EF4-FFF2-40B4-BE49-F238E27FC236}">
                <a16:creationId xmlns:a16="http://schemas.microsoft.com/office/drawing/2014/main" id="{BBBD0895-B0A2-D5D2-57C6-6814C125A5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59615" y="5544097"/>
            <a:ext cx="2309138" cy="4282164"/>
          </a:xfrm>
          <a:prstGeom prst="rect">
            <a:avLst/>
          </a:prstGeom>
        </p:spPr>
      </p:pic>
      <p:graphicFrame>
        <p:nvGraphicFramePr>
          <p:cNvPr id="16" name="Table 15">
            <a:extLst>
              <a:ext uri="{FF2B5EF4-FFF2-40B4-BE49-F238E27FC236}">
                <a16:creationId xmlns:a16="http://schemas.microsoft.com/office/drawing/2014/main" id="{B7143019-2FD6-E374-B46C-2422EFB8CBC6}"/>
              </a:ext>
            </a:extLst>
          </p:cNvPr>
          <p:cNvGraphicFramePr>
            <a:graphicFrameLocks noGrp="1"/>
          </p:cNvGraphicFramePr>
          <p:nvPr>
            <p:extLst>
              <p:ext uri="{D42A27DB-BD31-4B8C-83A1-F6EECF244321}">
                <p14:modId xmlns:p14="http://schemas.microsoft.com/office/powerpoint/2010/main" val="3762011739"/>
              </p:ext>
            </p:extLst>
          </p:nvPr>
        </p:nvGraphicFramePr>
        <p:xfrm>
          <a:off x="10392101" y="3075624"/>
          <a:ext cx="7553304" cy="1897911"/>
        </p:xfrm>
        <a:graphic>
          <a:graphicData uri="http://schemas.openxmlformats.org/drawingml/2006/table">
            <a:tbl>
              <a:tblPr firstRow="1" bandRow="1">
                <a:tableStyleId>{5C22544A-7EE6-4342-B048-85BDC9FD1C3A}</a:tableStyleId>
              </a:tblPr>
              <a:tblGrid>
                <a:gridCol w="2517768">
                  <a:extLst>
                    <a:ext uri="{9D8B030D-6E8A-4147-A177-3AD203B41FA5}">
                      <a16:colId xmlns:a16="http://schemas.microsoft.com/office/drawing/2014/main" val="2084968953"/>
                    </a:ext>
                  </a:extLst>
                </a:gridCol>
                <a:gridCol w="2517768">
                  <a:extLst>
                    <a:ext uri="{9D8B030D-6E8A-4147-A177-3AD203B41FA5}">
                      <a16:colId xmlns:a16="http://schemas.microsoft.com/office/drawing/2014/main" val="3482938652"/>
                    </a:ext>
                  </a:extLst>
                </a:gridCol>
                <a:gridCol w="2517768">
                  <a:extLst>
                    <a:ext uri="{9D8B030D-6E8A-4147-A177-3AD203B41FA5}">
                      <a16:colId xmlns:a16="http://schemas.microsoft.com/office/drawing/2014/main" val="621047709"/>
                    </a:ext>
                  </a:extLst>
                </a:gridCol>
              </a:tblGrid>
              <a:tr h="461416">
                <a:tc>
                  <a:txBody>
                    <a:bodyPr/>
                    <a:lstStyle/>
                    <a:p>
                      <a:r>
                        <a:rPr lang="en-GB" dirty="0"/>
                        <a:t>Database Service</a:t>
                      </a:r>
                    </a:p>
                  </a:txBody>
                  <a:tcPr/>
                </a:tc>
                <a:tc>
                  <a:txBody>
                    <a:bodyPr/>
                    <a:lstStyle/>
                    <a:p>
                      <a:r>
                        <a:rPr lang="en-GB" dirty="0"/>
                        <a:t>Purpose</a:t>
                      </a:r>
                    </a:p>
                  </a:txBody>
                  <a:tcPr/>
                </a:tc>
                <a:tc>
                  <a:txBody>
                    <a:bodyPr/>
                    <a:lstStyle/>
                    <a:p>
                      <a:r>
                        <a:rPr lang="en-GB" dirty="0"/>
                        <a:t>Data Types</a:t>
                      </a:r>
                    </a:p>
                  </a:txBody>
                  <a:tcPr/>
                </a:tc>
                <a:extLst>
                  <a:ext uri="{0D108BD9-81ED-4DB2-BD59-A6C34878D82A}">
                    <a16:rowId xmlns:a16="http://schemas.microsoft.com/office/drawing/2014/main" val="3956398947"/>
                  </a:ext>
                </a:extLst>
              </a:tr>
              <a:tr h="796415">
                <a:tc>
                  <a:txBody>
                    <a:bodyPr/>
                    <a:lstStyle/>
                    <a:p>
                      <a:r>
                        <a:rPr lang="en-GB" dirty="0"/>
                        <a:t>Azure Cosmos DB</a:t>
                      </a:r>
                    </a:p>
                  </a:txBody>
                  <a:tcPr/>
                </a:tc>
                <a:tc>
                  <a:txBody>
                    <a:bodyPr/>
                    <a:lstStyle/>
                    <a:p>
                      <a:r>
                        <a:rPr lang="en-GB" dirty="0"/>
                        <a:t>File Metadata, User Profiles, Search Data</a:t>
                      </a:r>
                    </a:p>
                  </a:txBody>
                  <a:tcPr/>
                </a:tc>
                <a:tc>
                  <a:txBody>
                    <a:bodyPr/>
                    <a:lstStyle/>
                    <a:p>
                      <a:r>
                        <a:rPr lang="en-GB" dirty="0"/>
                        <a:t>NoSQL Document Store</a:t>
                      </a:r>
                    </a:p>
                  </a:txBody>
                  <a:tcPr/>
                </a:tc>
                <a:extLst>
                  <a:ext uri="{0D108BD9-81ED-4DB2-BD59-A6C34878D82A}">
                    <a16:rowId xmlns:a16="http://schemas.microsoft.com/office/drawing/2014/main" val="464643355"/>
                  </a:ext>
                </a:extLst>
              </a:tr>
              <a:tr h="542407">
                <a:tc>
                  <a:txBody>
                    <a:bodyPr/>
                    <a:lstStyle/>
                    <a:p>
                      <a:r>
                        <a:rPr lang="en-GB" dirty="0"/>
                        <a:t>Azure Blob Storage</a:t>
                      </a:r>
                    </a:p>
                  </a:txBody>
                  <a:tcPr/>
                </a:tc>
                <a:tc>
                  <a:txBody>
                    <a:bodyPr/>
                    <a:lstStyle/>
                    <a:p>
                      <a:r>
                        <a:rPr lang="en-GB" dirty="0"/>
                        <a:t>Actual Files, PDF’s, PPTX, Images</a:t>
                      </a:r>
                    </a:p>
                  </a:txBody>
                  <a:tcPr/>
                </a:tc>
                <a:tc>
                  <a:txBody>
                    <a:bodyPr/>
                    <a:lstStyle/>
                    <a:p>
                      <a:r>
                        <a:rPr lang="en-GB" dirty="0"/>
                        <a:t>Object Storage</a:t>
                      </a:r>
                    </a:p>
                  </a:txBody>
                  <a:tcPr/>
                </a:tc>
                <a:extLst>
                  <a:ext uri="{0D108BD9-81ED-4DB2-BD59-A6C34878D82A}">
                    <a16:rowId xmlns:a16="http://schemas.microsoft.com/office/drawing/2014/main" val="2713408348"/>
                  </a:ext>
                </a:extLst>
              </a:tr>
            </a:tbl>
          </a:graphicData>
        </a:graphic>
      </p:graphicFrame>
      <p:sp>
        <p:nvSpPr>
          <p:cNvPr id="5" name="TextBox 7">
            <a:extLst>
              <a:ext uri="{FF2B5EF4-FFF2-40B4-BE49-F238E27FC236}">
                <a16:creationId xmlns:a16="http://schemas.microsoft.com/office/drawing/2014/main" id="{A7EB21C2-4D3C-793C-789B-652C201180A5}"/>
              </a:ext>
            </a:extLst>
          </p:cNvPr>
          <p:cNvSpPr txBox="1"/>
          <p:nvPr/>
        </p:nvSpPr>
        <p:spPr>
          <a:xfrm>
            <a:off x="11945785" y="9802765"/>
            <a:ext cx="5999620"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Source : Own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0" y="-197490"/>
            <a:ext cx="2954909" cy="2954909"/>
          </a:xfrm>
          <a:custGeom>
            <a:avLst/>
            <a:gdLst/>
            <a:ahLst/>
            <a:cxnLst/>
            <a:rect l="l" t="t" r="r" b="b"/>
            <a:pathLst>
              <a:path w="2954909" h="2954909">
                <a:moveTo>
                  <a:pt x="0" y="0"/>
                </a:moveTo>
                <a:lnTo>
                  <a:pt x="2954909" y="0"/>
                </a:lnTo>
                <a:lnTo>
                  <a:pt x="2954909" y="2954909"/>
                </a:lnTo>
                <a:lnTo>
                  <a:pt x="0" y="29549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4" name="TextBox 4"/>
          <p:cNvSpPr txBox="1"/>
          <p:nvPr/>
        </p:nvSpPr>
        <p:spPr>
          <a:xfrm>
            <a:off x="4575781" y="419100"/>
            <a:ext cx="9623407" cy="1238249"/>
          </a:xfrm>
          <a:prstGeom prst="rect">
            <a:avLst/>
          </a:prstGeom>
        </p:spPr>
        <p:txBody>
          <a:bodyPr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REST API Design</a:t>
            </a:r>
          </a:p>
        </p:txBody>
      </p:sp>
      <p:sp>
        <p:nvSpPr>
          <p:cNvPr id="9" name="TextBox 9"/>
          <p:cNvSpPr txBox="1"/>
          <p:nvPr/>
        </p:nvSpPr>
        <p:spPr>
          <a:xfrm>
            <a:off x="912111" y="2111904"/>
            <a:ext cx="8865174" cy="2665473"/>
          </a:xfrm>
          <a:prstGeom prst="rect">
            <a:avLst/>
          </a:prstGeom>
        </p:spPr>
        <p:txBody>
          <a:bodyPr wrap="square" lIns="0" tIns="0" rIns="0" bIns="0" rtlCol="0" anchor="t">
            <a:spAutoFit/>
          </a:bodyPr>
          <a:lstStyle/>
          <a:p>
            <a:pPr algn="ctr">
              <a:lnSpc>
                <a:spcPts val="4160"/>
              </a:lnSpc>
            </a:pPr>
            <a:r>
              <a:rPr lang="en-US" sz="3200" spc="57" dirty="0">
                <a:solidFill>
                  <a:srgbClr val="AD2C1F"/>
                </a:solidFill>
                <a:latin typeface="Caladea"/>
                <a:ea typeface="Caladea"/>
                <a:cs typeface="Caladea"/>
                <a:sym typeface="Caladea"/>
              </a:rPr>
              <a:t>API Architecture &amp; Integration</a:t>
            </a:r>
          </a:p>
          <a:p>
            <a:pPr algn="ctr">
              <a:lnSpc>
                <a:spcPts val="4160"/>
              </a:lnSpc>
            </a:pPr>
            <a:r>
              <a:rPr lang="en-US" sz="3200" spc="57" dirty="0">
                <a:solidFill>
                  <a:srgbClr val="AD2C1F"/>
                </a:solidFill>
                <a:latin typeface="Caladea"/>
                <a:ea typeface="Caladea"/>
                <a:cs typeface="Caladea"/>
                <a:sym typeface="Caladea"/>
              </a:rPr>
              <a:t>The REST API follows standard conventions providing a clean interface between front-end and Azure Services.</a:t>
            </a:r>
          </a:p>
          <a:p>
            <a:pPr algn="ctr">
              <a:lnSpc>
                <a:spcPts val="4160"/>
              </a:lnSpc>
            </a:pPr>
            <a:endParaRPr lang="en-US" sz="3200" spc="57" dirty="0">
              <a:solidFill>
                <a:srgbClr val="AD2C1F"/>
              </a:solidFill>
              <a:latin typeface="Caladea"/>
              <a:ea typeface="Caladea"/>
              <a:cs typeface="Caladea"/>
              <a:sym typeface="Caladea"/>
            </a:endParaRPr>
          </a:p>
        </p:txBody>
      </p:sp>
      <p:graphicFrame>
        <p:nvGraphicFramePr>
          <p:cNvPr id="12" name="Content Placeholder 3">
            <a:extLst>
              <a:ext uri="{FF2B5EF4-FFF2-40B4-BE49-F238E27FC236}">
                <a16:creationId xmlns:a16="http://schemas.microsoft.com/office/drawing/2014/main" id="{25036E77-968B-426F-E062-C2A4F899335C}"/>
              </a:ext>
            </a:extLst>
          </p:cNvPr>
          <p:cNvGraphicFramePr>
            <a:graphicFrameLocks/>
          </p:cNvGraphicFramePr>
          <p:nvPr>
            <p:extLst>
              <p:ext uri="{D42A27DB-BD31-4B8C-83A1-F6EECF244321}">
                <p14:modId xmlns:p14="http://schemas.microsoft.com/office/powerpoint/2010/main" val="2462547056"/>
              </p:ext>
            </p:extLst>
          </p:nvPr>
        </p:nvGraphicFramePr>
        <p:xfrm>
          <a:off x="10588210" y="1615840"/>
          <a:ext cx="7155180" cy="3657600"/>
        </p:xfrm>
        <a:graphic>
          <a:graphicData uri="http://schemas.openxmlformats.org/drawingml/2006/table">
            <a:tbl>
              <a:tblPr firstRow="1" bandRow="1">
                <a:tableStyleId>{5C22544A-7EE6-4342-B048-85BDC9FD1C3A}</a:tableStyleId>
              </a:tblPr>
              <a:tblGrid>
                <a:gridCol w="2379980">
                  <a:extLst>
                    <a:ext uri="{9D8B030D-6E8A-4147-A177-3AD203B41FA5}">
                      <a16:colId xmlns:a16="http://schemas.microsoft.com/office/drawing/2014/main" val="1190564720"/>
                    </a:ext>
                  </a:extLst>
                </a:gridCol>
                <a:gridCol w="2395220">
                  <a:extLst>
                    <a:ext uri="{9D8B030D-6E8A-4147-A177-3AD203B41FA5}">
                      <a16:colId xmlns:a16="http://schemas.microsoft.com/office/drawing/2014/main" val="875605865"/>
                    </a:ext>
                  </a:extLst>
                </a:gridCol>
                <a:gridCol w="2379980">
                  <a:extLst>
                    <a:ext uri="{9D8B030D-6E8A-4147-A177-3AD203B41FA5}">
                      <a16:colId xmlns:a16="http://schemas.microsoft.com/office/drawing/2014/main" val="1604666707"/>
                    </a:ext>
                  </a:extLst>
                </a:gridCol>
              </a:tblGrid>
              <a:tr h="0">
                <a:tc>
                  <a:txBody>
                    <a:bodyPr/>
                    <a:lstStyle/>
                    <a:p>
                      <a:r>
                        <a:rPr lang="en-GB" dirty="0"/>
                        <a:t>HTTP Methods</a:t>
                      </a:r>
                    </a:p>
                  </a:txBody>
                  <a:tcPr/>
                </a:tc>
                <a:tc>
                  <a:txBody>
                    <a:bodyPr/>
                    <a:lstStyle/>
                    <a:p>
                      <a:r>
                        <a:rPr lang="en-GB" dirty="0"/>
                        <a:t>Endpoints</a:t>
                      </a:r>
                    </a:p>
                  </a:txBody>
                  <a:tcPr/>
                </a:tc>
                <a:tc>
                  <a:txBody>
                    <a:bodyPr/>
                    <a:lstStyle/>
                    <a:p>
                      <a:r>
                        <a:rPr lang="en-GB" dirty="0"/>
                        <a:t>Descriptions</a:t>
                      </a:r>
                    </a:p>
                  </a:txBody>
                  <a:tcPr/>
                </a:tc>
                <a:extLst>
                  <a:ext uri="{0D108BD9-81ED-4DB2-BD59-A6C34878D82A}">
                    <a16:rowId xmlns:a16="http://schemas.microsoft.com/office/drawing/2014/main" val="848732036"/>
                  </a:ext>
                </a:extLst>
              </a:tr>
              <a:tr h="0">
                <a:tc>
                  <a:txBody>
                    <a:bodyPr/>
                    <a:lstStyle/>
                    <a:p>
                      <a:r>
                        <a:rPr lang="en-GB" dirty="0"/>
                        <a:t>POST</a:t>
                      </a:r>
                    </a:p>
                  </a:txBody>
                  <a:tcPr/>
                </a:tc>
                <a:tc>
                  <a:txBody>
                    <a:bodyPr/>
                    <a:lstStyle/>
                    <a:p>
                      <a:r>
                        <a:rPr lang="en-GB" dirty="0"/>
                        <a:t>/api/files</a:t>
                      </a:r>
                    </a:p>
                  </a:txBody>
                  <a:tcPr/>
                </a:tc>
                <a:tc>
                  <a:txBody>
                    <a:bodyPr/>
                    <a:lstStyle/>
                    <a:p>
                      <a:r>
                        <a:rPr lang="en-GB" dirty="0"/>
                        <a:t>Upload new files (Returns upload URL)</a:t>
                      </a:r>
                    </a:p>
                  </a:txBody>
                  <a:tcPr/>
                </a:tc>
                <a:extLst>
                  <a:ext uri="{0D108BD9-81ED-4DB2-BD59-A6C34878D82A}">
                    <a16:rowId xmlns:a16="http://schemas.microsoft.com/office/drawing/2014/main" val="2719046215"/>
                  </a:ext>
                </a:extLst>
              </a:tr>
              <a:tr h="0">
                <a:tc>
                  <a:txBody>
                    <a:bodyPr/>
                    <a:lstStyle/>
                    <a:p>
                      <a:r>
                        <a:rPr lang="en-GB" dirty="0"/>
                        <a:t>GET</a:t>
                      </a:r>
                    </a:p>
                  </a:txBody>
                  <a:tcPr/>
                </a:tc>
                <a:tc>
                  <a:txBody>
                    <a:bodyPr/>
                    <a:lstStyle/>
                    <a:p>
                      <a:r>
                        <a:rPr lang="en-GB" dirty="0"/>
                        <a:t>/api/files</a:t>
                      </a:r>
                    </a:p>
                  </a:txBody>
                  <a:tcPr/>
                </a:tc>
                <a:tc>
                  <a:txBody>
                    <a:bodyPr/>
                    <a:lstStyle/>
                    <a:p>
                      <a:r>
                        <a:rPr lang="en-GB" dirty="0"/>
                        <a:t>List all files (has optional filters)</a:t>
                      </a:r>
                    </a:p>
                  </a:txBody>
                  <a:tcPr/>
                </a:tc>
                <a:extLst>
                  <a:ext uri="{0D108BD9-81ED-4DB2-BD59-A6C34878D82A}">
                    <a16:rowId xmlns:a16="http://schemas.microsoft.com/office/drawing/2014/main" val="2600189002"/>
                  </a:ext>
                </a:extLst>
              </a:tr>
              <a:tr h="0">
                <a:tc>
                  <a:txBody>
                    <a:bodyPr/>
                    <a:lstStyle/>
                    <a:p>
                      <a:r>
                        <a:rPr lang="en-GB" dirty="0"/>
                        <a:t>GET</a:t>
                      </a:r>
                    </a:p>
                  </a:txBody>
                  <a:tcPr/>
                </a:tc>
                <a:tc>
                  <a:txBody>
                    <a:bodyPr/>
                    <a:lstStyle/>
                    <a:p>
                      <a:r>
                        <a:rPr lang="en-GB" dirty="0"/>
                        <a:t>Api/files/{id}</a:t>
                      </a:r>
                    </a:p>
                  </a:txBody>
                  <a:tcPr/>
                </a:tc>
                <a:tc>
                  <a:txBody>
                    <a:bodyPr/>
                    <a:lstStyle/>
                    <a:p>
                      <a:r>
                        <a:rPr lang="en-GB" dirty="0"/>
                        <a:t>Lists specific file details</a:t>
                      </a:r>
                    </a:p>
                  </a:txBody>
                  <a:tcPr/>
                </a:tc>
                <a:extLst>
                  <a:ext uri="{0D108BD9-81ED-4DB2-BD59-A6C34878D82A}">
                    <a16:rowId xmlns:a16="http://schemas.microsoft.com/office/drawing/2014/main" val="2293612596"/>
                  </a:ext>
                </a:extLst>
              </a:tr>
              <a:tr h="0">
                <a:tc>
                  <a:txBody>
                    <a:bodyPr/>
                    <a:lstStyle/>
                    <a:p>
                      <a:r>
                        <a:rPr lang="en-GB" dirty="0"/>
                        <a:t>PUT</a:t>
                      </a:r>
                    </a:p>
                  </a:txBody>
                  <a:tcPr/>
                </a:tc>
                <a:tc>
                  <a:txBody>
                    <a:bodyPr/>
                    <a:lstStyle/>
                    <a:p>
                      <a:r>
                        <a:rPr lang="en-GB" dirty="0"/>
                        <a:t>/api/files/{id}</a:t>
                      </a:r>
                    </a:p>
                  </a:txBody>
                  <a:tcPr/>
                </a:tc>
                <a:tc>
                  <a:txBody>
                    <a:bodyPr/>
                    <a:lstStyle/>
                    <a:p>
                      <a:r>
                        <a:rPr lang="en-GB" dirty="0"/>
                        <a:t>Update files metadata</a:t>
                      </a:r>
                    </a:p>
                  </a:txBody>
                  <a:tcPr/>
                </a:tc>
                <a:extLst>
                  <a:ext uri="{0D108BD9-81ED-4DB2-BD59-A6C34878D82A}">
                    <a16:rowId xmlns:a16="http://schemas.microsoft.com/office/drawing/2014/main" val="603996089"/>
                  </a:ext>
                </a:extLst>
              </a:tr>
              <a:tr h="0">
                <a:tc>
                  <a:txBody>
                    <a:bodyPr/>
                    <a:lstStyle/>
                    <a:p>
                      <a:r>
                        <a:rPr lang="en-GB" dirty="0"/>
                        <a:t>DELETE</a:t>
                      </a:r>
                    </a:p>
                  </a:txBody>
                  <a:tcPr/>
                </a:tc>
                <a:tc>
                  <a:txBody>
                    <a:bodyPr/>
                    <a:lstStyle/>
                    <a:p>
                      <a:r>
                        <a:rPr lang="en-GB" dirty="0"/>
                        <a:t>/api/files/{id}</a:t>
                      </a:r>
                    </a:p>
                  </a:txBody>
                  <a:tcPr/>
                </a:tc>
                <a:tc>
                  <a:txBody>
                    <a:bodyPr/>
                    <a:lstStyle/>
                    <a:p>
                      <a:r>
                        <a:rPr lang="en-GB" dirty="0"/>
                        <a:t>Delete file and metadata</a:t>
                      </a:r>
                    </a:p>
                  </a:txBody>
                  <a:tcPr/>
                </a:tc>
                <a:extLst>
                  <a:ext uri="{0D108BD9-81ED-4DB2-BD59-A6C34878D82A}">
                    <a16:rowId xmlns:a16="http://schemas.microsoft.com/office/drawing/2014/main" val="1386531939"/>
                  </a:ext>
                </a:extLst>
              </a:tr>
              <a:tr h="0">
                <a:tc>
                  <a:txBody>
                    <a:bodyPr/>
                    <a:lstStyle/>
                    <a:p>
                      <a:r>
                        <a:rPr lang="en-GB" dirty="0"/>
                        <a:t>GET</a:t>
                      </a:r>
                    </a:p>
                  </a:txBody>
                  <a:tcPr/>
                </a:tc>
                <a:tc>
                  <a:txBody>
                    <a:bodyPr/>
                    <a:lstStyle/>
                    <a:p>
                      <a:r>
                        <a:rPr lang="en-GB" dirty="0"/>
                        <a:t>/api/search?q={query}</a:t>
                      </a:r>
                    </a:p>
                  </a:txBody>
                  <a:tcPr/>
                </a:tc>
                <a:tc>
                  <a:txBody>
                    <a:bodyPr/>
                    <a:lstStyle/>
                    <a:p>
                      <a:r>
                        <a:rPr lang="en-GB" dirty="0"/>
                        <a:t>Search files using AI Search</a:t>
                      </a:r>
                    </a:p>
                  </a:txBody>
                  <a:tcPr/>
                </a:tc>
                <a:extLst>
                  <a:ext uri="{0D108BD9-81ED-4DB2-BD59-A6C34878D82A}">
                    <a16:rowId xmlns:a16="http://schemas.microsoft.com/office/drawing/2014/main" val="3240729415"/>
                  </a:ext>
                </a:extLst>
              </a:tr>
            </a:tbl>
          </a:graphicData>
        </a:graphic>
      </p:graphicFrame>
      <p:sp>
        <p:nvSpPr>
          <p:cNvPr id="13" name="TextBox 9">
            <a:extLst>
              <a:ext uri="{FF2B5EF4-FFF2-40B4-BE49-F238E27FC236}">
                <a16:creationId xmlns:a16="http://schemas.microsoft.com/office/drawing/2014/main" id="{93FBFCED-998F-D193-41D5-F2E7495AFD1A}"/>
              </a:ext>
            </a:extLst>
          </p:cNvPr>
          <p:cNvSpPr txBox="1"/>
          <p:nvPr/>
        </p:nvSpPr>
        <p:spPr>
          <a:xfrm>
            <a:off x="8955768" y="5756263"/>
            <a:ext cx="8865174" cy="3742691"/>
          </a:xfrm>
          <a:prstGeom prst="rect">
            <a:avLst/>
          </a:prstGeom>
        </p:spPr>
        <p:txBody>
          <a:bodyPr wrap="square" lIns="0" tIns="0" rIns="0" bIns="0" rtlCol="0" anchor="t">
            <a:spAutoFit/>
          </a:bodyPr>
          <a:lstStyle/>
          <a:p>
            <a:pPr marL="457200" indent="-457200">
              <a:lnSpc>
                <a:spcPts val="4160"/>
              </a:lnSpc>
              <a:buFontTx/>
              <a:buChar char="-"/>
            </a:pPr>
            <a:r>
              <a:rPr lang="en-US" sz="3200" spc="57" dirty="0">
                <a:solidFill>
                  <a:srgbClr val="AD2C1F"/>
                </a:solidFill>
                <a:latin typeface="Caladea"/>
                <a:ea typeface="Caladea"/>
                <a:cs typeface="Caladea"/>
                <a:sym typeface="Caladea"/>
              </a:rPr>
              <a:t>File Management : Full CRUD operations for documents(/api/files)</a:t>
            </a:r>
          </a:p>
          <a:p>
            <a:pPr marL="457200" indent="-457200">
              <a:lnSpc>
                <a:spcPts val="4160"/>
              </a:lnSpc>
              <a:buFontTx/>
              <a:buChar char="-"/>
            </a:pPr>
            <a:r>
              <a:rPr lang="en-US" sz="3200" spc="57" dirty="0">
                <a:solidFill>
                  <a:srgbClr val="AD2C1F"/>
                </a:solidFill>
                <a:latin typeface="Caladea"/>
                <a:ea typeface="Caladea"/>
                <a:cs typeface="Caladea"/>
                <a:sym typeface="Caladea"/>
              </a:rPr>
              <a:t>Azure AI Search : Provides a intelligent search endpoint</a:t>
            </a:r>
          </a:p>
          <a:p>
            <a:pPr marL="457200" indent="-457200">
              <a:lnSpc>
                <a:spcPts val="4160"/>
              </a:lnSpc>
              <a:buFontTx/>
              <a:buChar char="-"/>
            </a:pPr>
            <a:r>
              <a:rPr lang="en-US" sz="3200" spc="57" dirty="0">
                <a:solidFill>
                  <a:srgbClr val="AD2C1F"/>
                </a:solidFill>
                <a:latin typeface="Caladea"/>
                <a:ea typeface="Caladea"/>
                <a:cs typeface="Caladea"/>
                <a:sym typeface="Caladea"/>
              </a:rPr>
              <a:t>Metadata Operations : Separate endpoints for file data and file content</a:t>
            </a:r>
          </a:p>
          <a:p>
            <a:pPr>
              <a:lnSpc>
                <a:spcPts val="4160"/>
              </a:lnSpc>
            </a:pPr>
            <a:endParaRPr lang="en-US" sz="3200" spc="57" dirty="0">
              <a:solidFill>
                <a:srgbClr val="AD2C1F"/>
              </a:solidFill>
              <a:latin typeface="Caladea"/>
              <a:ea typeface="Caladea"/>
              <a:cs typeface="Caladea"/>
              <a:sym typeface="Caladea"/>
            </a:endParaRPr>
          </a:p>
        </p:txBody>
      </p:sp>
      <p:sp>
        <p:nvSpPr>
          <p:cNvPr id="14" name="TextBox 9">
            <a:extLst>
              <a:ext uri="{FF2B5EF4-FFF2-40B4-BE49-F238E27FC236}">
                <a16:creationId xmlns:a16="http://schemas.microsoft.com/office/drawing/2014/main" id="{953C878A-9DD0-087F-0C69-259246628816}"/>
              </a:ext>
            </a:extLst>
          </p:cNvPr>
          <p:cNvSpPr txBox="1"/>
          <p:nvPr/>
        </p:nvSpPr>
        <p:spPr>
          <a:xfrm>
            <a:off x="491639" y="4923760"/>
            <a:ext cx="8168284" cy="4819909"/>
          </a:xfrm>
          <a:prstGeom prst="rect">
            <a:avLst/>
          </a:prstGeom>
        </p:spPr>
        <p:txBody>
          <a:bodyPr wrap="square" lIns="0" tIns="0" rIns="0" bIns="0" rtlCol="0" anchor="t">
            <a:spAutoFit/>
          </a:bodyPr>
          <a:lstStyle/>
          <a:p>
            <a:pPr algn="ctr">
              <a:lnSpc>
                <a:spcPts val="4160"/>
              </a:lnSpc>
            </a:pPr>
            <a:r>
              <a:rPr lang="en-US" sz="3200" spc="57" dirty="0">
                <a:solidFill>
                  <a:srgbClr val="AD2C1F"/>
                </a:solidFill>
                <a:latin typeface="Caladea"/>
                <a:ea typeface="Caladea"/>
                <a:cs typeface="Caladea"/>
                <a:sym typeface="Caladea"/>
              </a:rPr>
              <a:t>Azure Service Integration</a:t>
            </a:r>
          </a:p>
          <a:p>
            <a:pPr marL="457200" indent="-457200">
              <a:lnSpc>
                <a:spcPts val="4160"/>
              </a:lnSpc>
              <a:buFontTx/>
              <a:buChar char="-"/>
            </a:pPr>
            <a:r>
              <a:rPr lang="en-US" sz="3200" spc="57" dirty="0">
                <a:solidFill>
                  <a:srgbClr val="AD2C1F"/>
                </a:solidFill>
                <a:latin typeface="Caladea"/>
                <a:ea typeface="Caladea"/>
                <a:cs typeface="Caladea"/>
                <a:sym typeface="Caladea"/>
              </a:rPr>
              <a:t>Azure Functions : Hosts all API endpoints as serverless functions</a:t>
            </a:r>
          </a:p>
          <a:p>
            <a:pPr marL="457200" indent="-457200">
              <a:lnSpc>
                <a:spcPts val="4160"/>
              </a:lnSpc>
              <a:buFontTx/>
              <a:buChar char="-"/>
            </a:pPr>
            <a:r>
              <a:rPr lang="en-US" sz="3200" spc="57" dirty="0">
                <a:solidFill>
                  <a:srgbClr val="AD2C1F"/>
                </a:solidFill>
                <a:latin typeface="Caladea"/>
                <a:ea typeface="Caladea"/>
                <a:cs typeface="Caladea"/>
                <a:sym typeface="Caladea"/>
              </a:rPr>
              <a:t>Azure Cosmos DB : Stores and retrieves document metadata via API calls</a:t>
            </a:r>
          </a:p>
          <a:p>
            <a:pPr marL="457200" indent="-457200">
              <a:lnSpc>
                <a:spcPts val="4160"/>
              </a:lnSpc>
              <a:buFontTx/>
              <a:buChar char="-"/>
            </a:pPr>
            <a:r>
              <a:rPr lang="en-US" sz="3200" spc="57" dirty="0">
                <a:solidFill>
                  <a:srgbClr val="AD2C1F"/>
                </a:solidFill>
                <a:latin typeface="Caladea"/>
                <a:ea typeface="Caladea"/>
                <a:cs typeface="Caladea"/>
                <a:sym typeface="Caladea"/>
              </a:rPr>
              <a:t>Azure AI Search : Provides search endpoint with intelligent query processing</a:t>
            </a:r>
          </a:p>
          <a:p>
            <a:pPr marL="457200" indent="-457200">
              <a:lnSpc>
                <a:spcPts val="4160"/>
              </a:lnSpc>
              <a:buFontTx/>
              <a:buChar char="-"/>
            </a:pPr>
            <a:r>
              <a:rPr lang="en-US" sz="3200" spc="57" dirty="0">
                <a:solidFill>
                  <a:srgbClr val="AD2C1F"/>
                </a:solidFill>
                <a:latin typeface="Caladea"/>
                <a:ea typeface="Caladea"/>
                <a:cs typeface="Caladea"/>
                <a:sym typeface="Caladea"/>
              </a:rPr>
              <a:t>Azure Blob Storage : Handles actual file uploads/downloads using SAS URLs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94635" y="7789012"/>
            <a:ext cx="2721528" cy="2721528"/>
          </a:xfrm>
          <a:custGeom>
            <a:avLst/>
            <a:gdLst/>
            <a:ahLst/>
            <a:cxnLst/>
            <a:rect l="l" t="t" r="r" b="b"/>
            <a:pathLst>
              <a:path w="2721528" h="2721528">
                <a:moveTo>
                  <a:pt x="0" y="0"/>
                </a:moveTo>
                <a:lnTo>
                  <a:pt x="2721529" y="0"/>
                </a:lnTo>
                <a:lnTo>
                  <a:pt x="2721529" y="2721528"/>
                </a:lnTo>
                <a:lnTo>
                  <a:pt x="0" y="27215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a:off x="15124315" y="494906"/>
            <a:ext cx="3163685" cy="1846442"/>
          </a:xfrm>
          <a:custGeom>
            <a:avLst/>
            <a:gdLst/>
            <a:ahLst/>
            <a:cxnLst/>
            <a:rect l="l" t="t" r="r" b="b"/>
            <a:pathLst>
              <a:path w="3163685" h="1846442">
                <a:moveTo>
                  <a:pt x="0" y="0"/>
                </a:moveTo>
                <a:lnTo>
                  <a:pt x="3163685" y="0"/>
                </a:lnTo>
                <a:lnTo>
                  <a:pt x="3163685" y="1846442"/>
                </a:lnTo>
                <a:lnTo>
                  <a:pt x="0" y="18464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dirty="0"/>
          </a:p>
        </p:txBody>
      </p:sp>
      <p:sp>
        <p:nvSpPr>
          <p:cNvPr id="6" name="TextBox 6"/>
          <p:cNvSpPr txBox="1"/>
          <p:nvPr/>
        </p:nvSpPr>
        <p:spPr>
          <a:xfrm>
            <a:off x="1878905" y="358876"/>
            <a:ext cx="12603326" cy="1200137"/>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REST API Design (UML)</a:t>
            </a:r>
          </a:p>
        </p:txBody>
      </p:sp>
      <p:pic>
        <p:nvPicPr>
          <p:cNvPr id="11" name="Picture 10" descr="A diagram of a computer&#10;&#10;AI-generated content may be incorrect.">
            <a:extLst>
              <a:ext uri="{FF2B5EF4-FFF2-40B4-BE49-F238E27FC236}">
                <a16:creationId xmlns:a16="http://schemas.microsoft.com/office/drawing/2014/main" id="{21B5CD6D-9E2C-7857-48F0-34D7263748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95600" y="1418127"/>
            <a:ext cx="11113609" cy="8509998"/>
          </a:xfrm>
          <a:prstGeom prst="rect">
            <a:avLst/>
          </a:prstGeom>
        </p:spPr>
      </p:pic>
      <p:sp>
        <p:nvSpPr>
          <p:cNvPr id="4" name="TextBox 3">
            <a:extLst>
              <a:ext uri="{FF2B5EF4-FFF2-40B4-BE49-F238E27FC236}">
                <a16:creationId xmlns:a16="http://schemas.microsoft.com/office/drawing/2014/main" id="{3F09E4C7-54BE-79D1-4BF2-9580219C1296}"/>
              </a:ext>
            </a:extLst>
          </p:cNvPr>
          <p:cNvSpPr txBox="1"/>
          <p:nvPr/>
        </p:nvSpPr>
        <p:spPr>
          <a:xfrm>
            <a:off x="14277916" y="3238500"/>
            <a:ext cx="3636707" cy="1200329"/>
          </a:xfrm>
          <a:prstGeom prst="rect">
            <a:avLst/>
          </a:prstGeom>
          <a:noFill/>
        </p:spPr>
        <p:txBody>
          <a:bodyPr wrap="square" rtlCol="0">
            <a:spAutoFit/>
          </a:bodyPr>
          <a:lstStyle/>
          <a:p>
            <a:r>
              <a:rPr lang="en-GB" dirty="0">
                <a:solidFill>
                  <a:srgbClr val="AD2C1F"/>
                </a:solidFill>
                <a:latin typeface="+mj-lt"/>
              </a:rPr>
              <a:t>The UML sequence diagram illustrates a POST (/api/files) endpoint, which handles new document uploads.</a:t>
            </a:r>
          </a:p>
        </p:txBody>
      </p:sp>
      <p:sp>
        <p:nvSpPr>
          <p:cNvPr id="5" name="TextBox 7">
            <a:extLst>
              <a:ext uri="{FF2B5EF4-FFF2-40B4-BE49-F238E27FC236}">
                <a16:creationId xmlns:a16="http://schemas.microsoft.com/office/drawing/2014/main" id="{E9859402-4A79-BDB1-2023-CC4227D23C85}"/>
              </a:ext>
            </a:extLst>
          </p:cNvPr>
          <p:cNvSpPr txBox="1"/>
          <p:nvPr/>
        </p:nvSpPr>
        <p:spPr>
          <a:xfrm>
            <a:off x="2874818" y="9802765"/>
            <a:ext cx="2306782"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Source : Own 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94635" y="7260329"/>
            <a:ext cx="3064771" cy="3064771"/>
          </a:xfrm>
          <a:custGeom>
            <a:avLst/>
            <a:gdLst/>
            <a:ahLst/>
            <a:cxnLst/>
            <a:rect l="l" t="t" r="r" b="b"/>
            <a:pathLst>
              <a:path w="3064771" h="3064771">
                <a:moveTo>
                  <a:pt x="0" y="0"/>
                </a:moveTo>
                <a:lnTo>
                  <a:pt x="3064772" y="0"/>
                </a:lnTo>
                <a:lnTo>
                  <a:pt x="3064772" y="3064771"/>
                </a:lnTo>
                <a:lnTo>
                  <a:pt x="0" y="3064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a:off x="14380706" y="494906"/>
            <a:ext cx="3907294" cy="2280439"/>
          </a:xfrm>
          <a:custGeom>
            <a:avLst/>
            <a:gdLst/>
            <a:ahLst/>
            <a:cxnLst/>
            <a:rect l="l" t="t" r="r" b="b"/>
            <a:pathLst>
              <a:path w="3907294" h="2280439">
                <a:moveTo>
                  <a:pt x="0" y="0"/>
                </a:moveTo>
                <a:lnTo>
                  <a:pt x="3907294" y="0"/>
                </a:lnTo>
                <a:lnTo>
                  <a:pt x="3907294" y="2280438"/>
                </a:lnTo>
                <a:lnTo>
                  <a:pt x="0" y="22804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dirty="0"/>
          </a:p>
        </p:txBody>
      </p:sp>
      <p:sp>
        <p:nvSpPr>
          <p:cNvPr id="6" name="TextBox 6"/>
          <p:cNvSpPr txBox="1"/>
          <p:nvPr/>
        </p:nvSpPr>
        <p:spPr>
          <a:xfrm>
            <a:off x="-104467" y="421046"/>
            <a:ext cx="13923506" cy="2354299"/>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Selected Azure Services &amp; Justification</a:t>
            </a:r>
          </a:p>
        </p:txBody>
      </p:sp>
      <p:sp>
        <p:nvSpPr>
          <p:cNvPr id="7" name="TextBox 7"/>
          <p:cNvSpPr txBox="1"/>
          <p:nvPr/>
        </p:nvSpPr>
        <p:spPr>
          <a:xfrm>
            <a:off x="4806130" y="3356358"/>
            <a:ext cx="12440483" cy="6435736"/>
          </a:xfrm>
          <a:prstGeom prst="rect">
            <a:avLst/>
          </a:prstGeom>
        </p:spPr>
        <p:txBody>
          <a:bodyPr wrap="square" lIns="0" tIns="0" rIns="0" bIns="0" rtlCol="0" anchor="t">
            <a:spAutoFit/>
          </a:bodyPr>
          <a:lstStyle/>
          <a:p>
            <a:pPr>
              <a:lnSpc>
                <a:spcPts val="4160"/>
              </a:lnSpc>
            </a:pPr>
            <a:r>
              <a:rPr lang="en-US" sz="3200" spc="57" dirty="0">
                <a:solidFill>
                  <a:srgbClr val="AD2C1F"/>
                </a:solidFill>
                <a:latin typeface="Caladea"/>
                <a:ea typeface="Caladea"/>
                <a:cs typeface="Caladea"/>
                <a:sym typeface="Caladea"/>
              </a:rPr>
              <a:t>Azure Front Door : Chosen as the global entry point for its integrated CDN and traffic management capabilities. Ensuring fast worldwide access for all users, provides built-in firewall. Alternative was Application Gateway, but it lacks global distribution</a:t>
            </a:r>
          </a:p>
          <a:p>
            <a:pPr>
              <a:lnSpc>
                <a:spcPts val="4160"/>
              </a:lnSpc>
            </a:pPr>
            <a:br>
              <a:rPr lang="en-US" sz="3200" spc="57" dirty="0">
                <a:solidFill>
                  <a:srgbClr val="AD2C1F"/>
                </a:solidFill>
                <a:latin typeface="Caladea"/>
                <a:ea typeface="Caladea"/>
                <a:cs typeface="Caladea"/>
                <a:sym typeface="Caladea"/>
              </a:rPr>
            </a:br>
            <a:r>
              <a:rPr lang="en-US" sz="3200" spc="57" dirty="0">
                <a:solidFill>
                  <a:srgbClr val="AD2C1F"/>
                </a:solidFill>
                <a:latin typeface="Caladea"/>
                <a:ea typeface="Caladea"/>
                <a:cs typeface="Caladea"/>
                <a:sym typeface="Caladea"/>
              </a:rPr>
              <a:t>Azure Entra ID : Secure identity and access management. Provides single sign-on authentication integrated across the Azure Ecosystem</a:t>
            </a:r>
          </a:p>
          <a:p>
            <a:pPr>
              <a:lnSpc>
                <a:spcPts val="4160"/>
              </a:lnSpc>
            </a:pPr>
            <a:endParaRPr lang="en-US" sz="3200" spc="57" dirty="0">
              <a:solidFill>
                <a:srgbClr val="AD2C1F"/>
              </a:solidFill>
              <a:latin typeface="Caladea"/>
              <a:ea typeface="Caladea"/>
              <a:cs typeface="Caladea"/>
              <a:sym typeface="Caladea"/>
            </a:endParaRPr>
          </a:p>
          <a:p>
            <a:pPr>
              <a:lnSpc>
                <a:spcPts val="4160"/>
              </a:lnSpc>
            </a:pPr>
            <a:r>
              <a:rPr lang="en-US" sz="3200" spc="57" dirty="0">
                <a:solidFill>
                  <a:srgbClr val="AD2C1F"/>
                </a:solidFill>
                <a:latin typeface="Caladea"/>
                <a:ea typeface="Caladea"/>
                <a:cs typeface="Caladea"/>
                <a:sym typeface="Caladea"/>
              </a:rPr>
              <a:t>Azure Static Web App : Hosts the applications front-end with automatic scaling, global distribution, with built-in CI/CD, automatically handles SSL certificates, Azure App services was considered but would be overly complex for static content</a:t>
            </a:r>
          </a:p>
        </p:txBody>
      </p:sp>
      <p:pic>
        <p:nvPicPr>
          <p:cNvPr id="10" name="Picture 9">
            <a:extLst>
              <a:ext uri="{FF2B5EF4-FFF2-40B4-BE49-F238E27FC236}">
                <a16:creationId xmlns:a16="http://schemas.microsoft.com/office/drawing/2014/main" id="{E9B76591-6A41-C831-0F75-7BBE6215E55C}"/>
              </a:ext>
            </a:extLst>
          </p:cNvPr>
          <p:cNvPicPr>
            <a:picLocks noChangeAspect="1"/>
          </p:cNvPicPr>
          <p:nvPr/>
        </p:nvPicPr>
        <p:blipFill>
          <a:blip r:embed="rId6"/>
          <a:stretch>
            <a:fillRect/>
          </a:stretch>
        </p:blipFill>
        <p:spPr>
          <a:xfrm>
            <a:off x="3231324" y="3619500"/>
            <a:ext cx="1215116" cy="1219200"/>
          </a:xfrm>
          <a:prstGeom prst="rect">
            <a:avLst/>
          </a:prstGeom>
        </p:spPr>
      </p:pic>
      <p:pic>
        <p:nvPicPr>
          <p:cNvPr id="11" name="Picture 10">
            <a:extLst>
              <a:ext uri="{FF2B5EF4-FFF2-40B4-BE49-F238E27FC236}">
                <a16:creationId xmlns:a16="http://schemas.microsoft.com/office/drawing/2014/main" id="{CF5F9D47-A7FD-CC01-7CEF-5455AE04D5BC}"/>
              </a:ext>
            </a:extLst>
          </p:cNvPr>
          <p:cNvPicPr>
            <a:picLocks noChangeAspect="1"/>
          </p:cNvPicPr>
          <p:nvPr/>
        </p:nvPicPr>
        <p:blipFill>
          <a:blip r:embed="rId7"/>
          <a:stretch>
            <a:fillRect/>
          </a:stretch>
        </p:blipFill>
        <p:spPr>
          <a:xfrm>
            <a:off x="3231324" y="5981700"/>
            <a:ext cx="1219200" cy="1219200"/>
          </a:xfrm>
          <a:prstGeom prst="rect">
            <a:avLst/>
          </a:prstGeom>
        </p:spPr>
      </p:pic>
      <p:pic>
        <p:nvPicPr>
          <p:cNvPr id="13" name="Picture 12">
            <a:extLst>
              <a:ext uri="{FF2B5EF4-FFF2-40B4-BE49-F238E27FC236}">
                <a16:creationId xmlns:a16="http://schemas.microsoft.com/office/drawing/2014/main" id="{416022DB-9F22-5831-9CEA-7E7B38B665DA}"/>
              </a:ext>
            </a:extLst>
          </p:cNvPr>
          <p:cNvPicPr>
            <a:picLocks noChangeAspect="1"/>
          </p:cNvPicPr>
          <p:nvPr/>
        </p:nvPicPr>
        <p:blipFill>
          <a:blip r:embed="rId8"/>
          <a:stretch>
            <a:fillRect/>
          </a:stretch>
        </p:blipFill>
        <p:spPr>
          <a:xfrm>
            <a:off x="2936049" y="8155781"/>
            <a:ext cx="1809750" cy="950119"/>
          </a:xfrm>
          <a:prstGeom prst="rect">
            <a:avLst/>
          </a:prstGeom>
        </p:spPr>
      </p:pic>
      <p:sp>
        <p:nvSpPr>
          <p:cNvPr id="4" name="TextBox 7">
            <a:extLst>
              <a:ext uri="{FF2B5EF4-FFF2-40B4-BE49-F238E27FC236}">
                <a16:creationId xmlns:a16="http://schemas.microsoft.com/office/drawing/2014/main" id="{D76BDC57-8D60-CD47-E4E1-805A1ED99336}"/>
              </a:ext>
            </a:extLst>
          </p:cNvPr>
          <p:cNvSpPr txBox="1"/>
          <p:nvPr/>
        </p:nvSpPr>
        <p:spPr>
          <a:xfrm>
            <a:off x="3030467" y="9801104"/>
            <a:ext cx="5999620"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Microsoft Azure Services Logos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TextBox 2"/>
          <p:cNvSpPr txBox="1"/>
          <p:nvPr/>
        </p:nvSpPr>
        <p:spPr>
          <a:xfrm>
            <a:off x="1905000" y="254775"/>
            <a:ext cx="17067051" cy="2308324"/>
          </a:xfrm>
          <a:prstGeom prst="rect">
            <a:avLst/>
          </a:prstGeom>
        </p:spPr>
        <p:txBody>
          <a:bodyPr wrap="square" lIns="0" tIns="0" rIns="0" bIns="0" rtlCol="0" anchor="t">
            <a:spAutoFit/>
          </a:bodyPr>
          <a:lstStyle/>
          <a:p>
            <a:pPr algn="ctr">
              <a:lnSpc>
                <a:spcPts val="8999"/>
              </a:lnSpc>
            </a:pPr>
            <a:r>
              <a:rPr lang="en-US" sz="8000" dirty="0">
                <a:solidFill>
                  <a:srgbClr val="AD2C1F"/>
                </a:solidFill>
                <a:latin typeface="Caladea"/>
                <a:ea typeface="Caladea"/>
                <a:cs typeface="Caladea"/>
                <a:sym typeface="Caladea"/>
              </a:rPr>
              <a:t>Selected Azure Services &amp; Justification</a:t>
            </a:r>
          </a:p>
          <a:p>
            <a:pPr algn="ctr">
              <a:lnSpc>
                <a:spcPts val="8999"/>
              </a:lnSpc>
            </a:pPr>
            <a:r>
              <a:rPr lang="en-US" sz="8000" dirty="0">
                <a:solidFill>
                  <a:srgbClr val="AD2C1F"/>
                </a:solidFill>
                <a:latin typeface="Caladea"/>
                <a:ea typeface="Caladea"/>
                <a:cs typeface="Caladea"/>
                <a:sym typeface="Caladea"/>
              </a:rPr>
              <a:t>(cont.)</a:t>
            </a:r>
          </a:p>
        </p:txBody>
      </p:sp>
      <p:sp>
        <p:nvSpPr>
          <p:cNvPr id="8" name="Freeform 8"/>
          <p:cNvSpPr/>
          <p:nvPr/>
        </p:nvSpPr>
        <p:spPr>
          <a:xfrm>
            <a:off x="-1256170" y="-1333500"/>
            <a:ext cx="3008770" cy="3008770"/>
          </a:xfrm>
          <a:custGeom>
            <a:avLst/>
            <a:gdLst/>
            <a:ahLst/>
            <a:cxnLst/>
            <a:rect l="l" t="t" r="r" b="b"/>
            <a:pathLst>
              <a:path w="3008770" h="3008770">
                <a:moveTo>
                  <a:pt x="0" y="0"/>
                </a:moveTo>
                <a:lnTo>
                  <a:pt x="3008770" y="0"/>
                </a:lnTo>
                <a:lnTo>
                  <a:pt x="3008770" y="3008770"/>
                </a:lnTo>
                <a:lnTo>
                  <a:pt x="0" y="3008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9" name="Freeform 9"/>
          <p:cNvSpPr/>
          <p:nvPr/>
        </p:nvSpPr>
        <p:spPr>
          <a:xfrm flipH="1" flipV="1">
            <a:off x="17145000" y="9182100"/>
            <a:ext cx="2004604" cy="2004604"/>
          </a:xfrm>
          <a:custGeom>
            <a:avLst/>
            <a:gdLst/>
            <a:ahLst/>
            <a:cxnLst/>
            <a:rect l="l" t="t" r="r" b="b"/>
            <a:pathLst>
              <a:path w="2004604" h="2004604">
                <a:moveTo>
                  <a:pt x="2004603" y="2004604"/>
                </a:moveTo>
                <a:lnTo>
                  <a:pt x="0" y="2004604"/>
                </a:lnTo>
                <a:lnTo>
                  <a:pt x="0" y="0"/>
                </a:lnTo>
                <a:lnTo>
                  <a:pt x="2004603" y="0"/>
                </a:lnTo>
                <a:lnTo>
                  <a:pt x="2004603" y="200460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10" name="TextBox 7">
            <a:extLst>
              <a:ext uri="{FF2B5EF4-FFF2-40B4-BE49-F238E27FC236}">
                <a16:creationId xmlns:a16="http://schemas.microsoft.com/office/drawing/2014/main" id="{40723315-F896-04E2-8D6B-3FE81D1CFE8D}"/>
              </a:ext>
            </a:extLst>
          </p:cNvPr>
          <p:cNvSpPr txBox="1"/>
          <p:nvPr/>
        </p:nvSpPr>
        <p:spPr>
          <a:xfrm>
            <a:off x="5171670" y="2527457"/>
            <a:ext cx="12440483" cy="7512954"/>
          </a:xfrm>
          <a:prstGeom prst="rect">
            <a:avLst/>
          </a:prstGeom>
        </p:spPr>
        <p:txBody>
          <a:bodyPr wrap="square" lIns="0" tIns="0" rIns="0" bIns="0" rtlCol="0" anchor="t">
            <a:spAutoFit/>
          </a:bodyPr>
          <a:lstStyle/>
          <a:p>
            <a:pPr>
              <a:lnSpc>
                <a:spcPts val="4160"/>
              </a:lnSpc>
            </a:pPr>
            <a:r>
              <a:rPr lang="en-US" sz="3200" spc="57" dirty="0">
                <a:solidFill>
                  <a:srgbClr val="AD2C1F"/>
                </a:solidFill>
                <a:latin typeface="Caladea"/>
                <a:ea typeface="Caladea"/>
                <a:cs typeface="Caladea"/>
                <a:sym typeface="Caladea"/>
              </a:rPr>
              <a:t>Azure Functions : Chosen for the backend API due to its serverless nature and event-driven scaling. The pay-per-execution model makes it a cost-effective option for the unpredictable workloads. Azure App Services was considered, but it requires constant running, making it costly</a:t>
            </a:r>
          </a:p>
          <a:p>
            <a:pPr>
              <a:lnSpc>
                <a:spcPts val="4160"/>
              </a:lnSpc>
            </a:pPr>
            <a:endParaRPr lang="en-US" sz="3200" spc="57" dirty="0">
              <a:solidFill>
                <a:srgbClr val="AD2C1F"/>
              </a:solidFill>
              <a:latin typeface="Caladea"/>
              <a:ea typeface="Caladea"/>
              <a:cs typeface="Caladea"/>
              <a:sym typeface="Caladea"/>
            </a:endParaRPr>
          </a:p>
          <a:p>
            <a:pPr>
              <a:lnSpc>
                <a:spcPts val="4160"/>
              </a:lnSpc>
            </a:pPr>
            <a:r>
              <a:rPr lang="en-US" sz="3200" spc="57" dirty="0">
                <a:solidFill>
                  <a:srgbClr val="AD2C1F"/>
                </a:solidFill>
                <a:latin typeface="Caladea"/>
                <a:ea typeface="Caladea"/>
                <a:cs typeface="Caladea"/>
                <a:sym typeface="Caladea"/>
              </a:rPr>
              <a:t>Azure Cosmos DB : Chosen for its NoSQL Flexibility, providing fast queries and global distribution, making it ideal for the document metadata. Azure SQL was rejected due to its rigid schema requirements</a:t>
            </a:r>
          </a:p>
          <a:p>
            <a:pPr>
              <a:lnSpc>
                <a:spcPts val="4160"/>
              </a:lnSpc>
            </a:pPr>
            <a:endParaRPr lang="en-US" sz="3200" spc="57" dirty="0">
              <a:solidFill>
                <a:srgbClr val="AD2C1F"/>
              </a:solidFill>
              <a:latin typeface="Caladea"/>
              <a:ea typeface="Caladea"/>
              <a:cs typeface="Caladea"/>
              <a:sym typeface="Caladea"/>
            </a:endParaRPr>
          </a:p>
          <a:p>
            <a:pPr>
              <a:lnSpc>
                <a:spcPts val="4160"/>
              </a:lnSpc>
            </a:pPr>
            <a:r>
              <a:rPr lang="en-US" sz="3200" spc="57" dirty="0">
                <a:solidFill>
                  <a:srgbClr val="AD2C1F"/>
                </a:solidFill>
                <a:latin typeface="Caladea"/>
                <a:ea typeface="Caladea"/>
                <a:cs typeface="Caladea"/>
                <a:sym typeface="Caladea"/>
              </a:rPr>
              <a:t>Azure Blob Storage : Chosen for unstructured data storage of PDFs, PPTXs, and images. It is massively scalable, has secure access using SAS URL’s, traditionally storing files in a database(SQL) would’ve been inefficient for large files, is costly to scale.</a:t>
            </a:r>
          </a:p>
        </p:txBody>
      </p:sp>
      <p:pic>
        <p:nvPicPr>
          <p:cNvPr id="11" name="Picture 10">
            <a:extLst>
              <a:ext uri="{FF2B5EF4-FFF2-40B4-BE49-F238E27FC236}">
                <a16:creationId xmlns:a16="http://schemas.microsoft.com/office/drawing/2014/main" id="{20D89C91-EEFE-355E-E261-21E059AF5DA2}"/>
              </a:ext>
            </a:extLst>
          </p:cNvPr>
          <p:cNvPicPr>
            <a:picLocks noChangeAspect="1"/>
          </p:cNvPicPr>
          <p:nvPr/>
        </p:nvPicPr>
        <p:blipFill>
          <a:blip r:embed="rId4"/>
          <a:stretch>
            <a:fillRect/>
          </a:stretch>
        </p:blipFill>
        <p:spPr>
          <a:xfrm>
            <a:off x="2438413" y="3055144"/>
            <a:ext cx="2381250" cy="1250156"/>
          </a:xfrm>
          <a:prstGeom prst="rect">
            <a:avLst/>
          </a:prstGeom>
        </p:spPr>
      </p:pic>
      <p:pic>
        <p:nvPicPr>
          <p:cNvPr id="2050" name="Picture 2" descr="Cosmos DB - Wikipedia">
            <a:extLst>
              <a:ext uri="{FF2B5EF4-FFF2-40B4-BE49-F238E27FC236}">
                <a16:creationId xmlns:a16="http://schemas.microsoft.com/office/drawing/2014/main" id="{CD6B7886-E74A-877E-9281-FF81E94940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5686124"/>
            <a:ext cx="238125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icrosoft Azure Blob Storage | element61">
            <a:extLst>
              <a:ext uri="{FF2B5EF4-FFF2-40B4-BE49-F238E27FC236}">
                <a16:creationId xmlns:a16="http://schemas.microsoft.com/office/drawing/2014/main" id="{7CAF484F-348C-52B1-ED9B-D3DC6815E4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0781" y="8021829"/>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7">
            <a:extLst>
              <a:ext uri="{FF2B5EF4-FFF2-40B4-BE49-F238E27FC236}">
                <a16:creationId xmlns:a16="http://schemas.microsoft.com/office/drawing/2014/main" id="{D9EC3484-9F0A-09CF-CE77-4D7A32A4E0D8}"/>
              </a:ext>
            </a:extLst>
          </p:cNvPr>
          <p:cNvSpPr txBox="1"/>
          <p:nvPr/>
        </p:nvSpPr>
        <p:spPr>
          <a:xfrm>
            <a:off x="0" y="9706022"/>
            <a:ext cx="5999620"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Microsoft Azure Services Logos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3" name="Freeform 3"/>
          <p:cNvSpPr/>
          <p:nvPr/>
        </p:nvSpPr>
        <p:spPr>
          <a:xfrm>
            <a:off x="14380706" y="494906"/>
            <a:ext cx="3907294" cy="2280439"/>
          </a:xfrm>
          <a:custGeom>
            <a:avLst/>
            <a:gdLst/>
            <a:ahLst/>
            <a:cxnLst/>
            <a:rect l="l" t="t" r="r" b="b"/>
            <a:pathLst>
              <a:path w="3907294" h="2280439">
                <a:moveTo>
                  <a:pt x="0" y="0"/>
                </a:moveTo>
                <a:lnTo>
                  <a:pt x="3907294" y="0"/>
                </a:lnTo>
                <a:lnTo>
                  <a:pt x="3907294" y="2280438"/>
                </a:lnTo>
                <a:lnTo>
                  <a:pt x="0" y="22804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6" name="TextBox 6"/>
          <p:cNvSpPr txBox="1"/>
          <p:nvPr/>
        </p:nvSpPr>
        <p:spPr>
          <a:xfrm>
            <a:off x="-1143000" y="505967"/>
            <a:ext cx="12847367" cy="1200137"/>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Advance Features</a:t>
            </a:r>
          </a:p>
        </p:txBody>
      </p:sp>
      <p:sp>
        <p:nvSpPr>
          <p:cNvPr id="7" name="TextBox 7"/>
          <p:cNvSpPr txBox="1"/>
          <p:nvPr/>
        </p:nvSpPr>
        <p:spPr>
          <a:xfrm>
            <a:off x="4648200" y="2857500"/>
            <a:ext cx="13233850" cy="6974345"/>
          </a:xfrm>
          <a:prstGeom prst="rect">
            <a:avLst/>
          </a:prstGeom>
        </p:spPr>
        <p:txBody>
          <a:bodyPr lIns="0" tIns="0" rIns="0" bIns="0" rtlCol="0" anchor="t">
            <a:spAutoFit/>
          </a:bodyPr>
          <a:lstStyle/>
          <a:p>
            <a:pPr algn="ctr">
              <a:lnSpc>
                <a:spcPts val="4160"/>
              </a:lnSpc>
            </a:pPr>
            <a:r>
              <a:rPr lang="en-US" sz="3200" spc="57" dirty="0">
                <a:solidFill>
                  <a:srgbClr val="AD2C1F"/>
                </a:solidFill>
                <a:latin typeface="Caladea"/>
                <a:ea typeface="Caladea"/>
                <a:cs typeface="Caladea"/>
                <a:sym typeface="Caladea"/>
              </a:rPr>
              <a:t>Azure AI Search : Has been chosen since it transforms the platform from a simple document repository, into a knowledge discovery tool. Allowing intelligent, text searching across document content and metadata. Features such as fuzzy matching will handle user typos and spelling variations, it also has relevance scoring, showing useful academic resources first. This is far superior to basic search queries, makes the application much more helpful.</a:t>
            </a:r>
          </a:p>
          <a:p>
            <a:pPr algn="ctr">
              <a:lnSpc>
                <a:spcPts val="4160"/>
              </a:lnSpc>
            </a:pPr>
            <a:endParaRPr lang="en-US" sz="3200" spc="57" dirty="0">
              <a:solidFill>
                <a:srgbClr val="AD2C1F"/>
              </a:solidFill>
              <a:latin typeface="Caladea"/>
              <a:ea typeface="Caladea"/>
              <a:cs typeface="Caladea"/>
              <a:sym typeface="Caladea"/>
            </a:endParaRPr>
          </a:p>
          <a:p>
            <a:pPr algn="ctr">
              <a:lnSpc>
                <a:spcPts val="4160"/>
              </a:lnSpc>
            </a:pPr>
            <a:r>
              <a:rPr lang="en-US" sz="3200" spc="57" dirty="0">
                <a:solidFill>
                  <a:srgbClr val="AD2C1F"/>
                </a:solidFill>
                <a:latin typeface="Caladea"/>
                <a:ea typeface="Caladea"/>
                <a:cs typeface="Caladea"/>
                <a:sym typeface="Caladea"/>
              </a:rPr>
              <a:t>Azure Application Insights : Chosen for its comprehensive performance monitoring and usage analytics. Providing real-time insights into the applications health, allowing for early error detection, its data also enhances recommendations, alternatively I could’ve implemented a basic logging feature within Azure Functions, though this approach would be less beneficial and not centralized.</a:t>
            </a:r>
          </a:p>
        </p:txBody>
      </p:sp>
      <p:pic>
        <p:nvPicPr>
          <p:cNvPr id="1026" name="Picture 2" descr="Pricing - Azure AI Search | Microsoft Azure">
            <a:extLst>
              <a:ext uri="{FF2B5EF4-FFF2-40B4-BE49-F238E27FC236}">
                <a16:creationId xmlns:a16="http://schemas.microsoft.com/office/drawing/2014/main" id="{AED14807-8F74-53B1-B3D8-41CD46D7E4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009900"/>
            <a:ext cx="5715000" cy="30003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plication Insights | Microsoft Azure Color">
            <a:extLst>
              <a:ext uri="{FF2B5EF4-FFF2-40B4-BE49-F238E27FC236}">
                <a16:creationId xmlns:a16="http://schemas.microsoft.com/office/drawing/2014/main" id="{01142365-67A3-095B-71B0-7F8E35F635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6010275"/>
            <a:ext cx="1905000" cy="30011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7">
            <a:extLst>
              <a:ext uri="{FF2B5EF4-FFF2-40B4-BE49-F238E27FC236}">
                <a16:creationId xmlns:a16="http://schemas.microsoft.com/office/drawing/2014/main" id="{D7F09C8B-7128-9077-347C-021375B48173}"/>
              </a:ext>
            </a:extLst>
          </p:cNvPr>
          <p:cNvSpPr txBox="1"/>
          <p:nvPr/>
        </p:nvSpPr>
        <p:spPr>
          <a:xfrm>
            <a:off x="0" y="9706022"/>
            <a:ext cx="5999620" cy="484235"/>
          </a:xfrm>
          <a:prstGeom prst="rect">
            <a:avLst/>
          </a:prstGeom>
        </p:spPr>
        <p:txBody>
          <a:bodyPr wrap="square" lIns="0" tIns="0" rIns="0" bIns="0" rtlCol="0" anchor="t">
            <a:spAutoFit/>
          </a:bodyPr>
          <a:lstStyle/>
          <a:p>
            <a:pPr>
              <a:lnSpc>
                <a:spcPts val="4160"/>
              </a:lnSpc>
            </a:pPr>
            <a:r>
              <a:rPr lang="en-US" sz="2000" spc="57" dirty="0">
                <a:solidFill>
                  <a:srgbClr val="AD2C1F"/>
                </a:solidFill>
                <a:latin typeface="Caladea"/>
                <a:ea typeface="Caladea"/>
                <a:cs typeface="Caladea"/>
                <a:sym typeface="Caladea"/>
              </a:rPr>
              <a:t>Microsoft Azure Services Logos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2" name="Freeform 2"/>
          <p:cNvSpPr/>
          <p:nvPr/>
        </p:nvSpPr>
        <p:spPr>
          <a:xfrm>
            <a:off x="0" y="-264871"/>
            <a:ext cx="3022290" cy="3022290"/>
          </a:xfrm>
          <a:custGeom>
            <a:avLst/>
            <a:gdLst/>
            <a:ahLst/>
            <a:cxnLst/>
            <a:rect l="l" t="t" r="r" b="b"/>
            <a:pathLst>
              <a:path w="3022290" h="3022290">
                <a:moveTo>
                  <a:pt x="0" y="0"/>
                </a:moveTo>
                <a:lnTo>
                  <a:pt x="3022290" y="0"/>
                </a:lnTo>
                <a:lnTo>
                  <a:pt x="3022290" y="3022290"/>
                </a:lnTo>
                <a:lnTo>
                  <a:pt x="0" y="30222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 name="Freeform 3"/>
          <p:cNvSpPr/>
          <p:nvPr/>
        </p:nvSpPr>
        <p:spPr>
          <a:xfrm flipH="1" flipV="1">
            <a:off x="15530581" y="7529581"/>
            <a:ext cx="2990816" cy="2990816"/>
          </a:xfrm>
          <a:custGeom>
            <a:avLst/>
            <a:gdLst/>
            <a:ahLst/>
            <a:cxnLst/>
            <a:rect l="l" t="t" r="r" b="b"/>
            <a:pathLst>
              <a:path w="2990816" h="2990816">
                <a:moveTo>
                  <a:pt x="2990816" y="2990816"/>
                </a:moveTo>
                <a:lnTo>
                  <a:pt x="0" y="2990816"/>
                </a:lnTo>
                <a:lnTo>
                  <a:pt x="0" y="0"/>
                </a:lnTo>
                <a:lnTo>
                  <a:pt x="2990816" y="0"/>
                </a:lnTo>
                <a:lnTo>
                  <a:pt x="2990816" y="299081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4" name="TextBox 4"/>
          <p:cNvSpPr txBox="1"/>
          <p:nvPr/>
        </p:nvSpPr>
        <p:spPr>
          <a:xfrm>
            <a:off x="4315232" y="646205"/>
            <a:ext cx="13970310" cy="1200137"/>
          </a:xfrm>
          <a:prstGeom prst="rect">
            <a:avLst/>
          </a:prstGeom>
        </p:spPr>
        <p:txBody>
          <a:bodyPr wrap="square" lIns="0" tIns="0" rIns="0" bIns="0" rtlCol="0" anchor="t">
            <a:spAutoFit/>
          </a:bodyPr>
          <a:lstStyle/>
          <a:p>
            <a:pPr algn="ctr">
              <a:lnSpc>
                <a:spcPts val="8999"/>
              </a:lnSpc>
            </a:pPr>
            <a:r>
              <a:rPr lang="en-US" sz="9999" dirty="0">
                <a:solidFill>
                  <a:srgbClr val="AD2C1F"/>
                </a:solidFill>
                <a:latin typeface="Caladea"/>
                <a:ea typeface="Caladea"/>
                <a:cs typeface="Caladea"/>
                <a:sym typeface="Caladea"/>
              </a:rPr>
              <a:t>Assessment of Limitations</a:t>
            </a:r>
          </a:p>
        </p:txBody>
      </p:sp>
      <p:sp>
        <p:nvSpPr>
          <p:cNvPr id="8" name="TextBox 8"/>
          <p:cNvSpPr txBox="1"/>
          <p:nvPr/>
        </p:nvSpPr>
        <p:spPr>
          <a:xfrm>
            <a:off x="3886200" y="2390505"/>
            <a:ext cx="12243420" cy="6903236"/>
          </a:xfrm>
          <a:prstGeom prst="rect">
            <a:avLst/>
          </a:prstGeom>
        </p:spPr>
        <p:txBody>
          <a:bodyPr lIns="0" tIns="0" rIns="0" bIns="0" rtlCol="0" anchor="t">
            <a:spAutoFit/>
          </a:bodyPr>
          <a:lstStyle/>
          <a:p>
            <a:pPr marL="514350" indent="-514350">
              <a:lnSpc>
                <a:spcPts val="3639"/>
              </a:lnSpc>
              <a:buAutoNum type="arabicPeriod"/>
            </a:pPr>
            <a:r>
              <a:rPr lang="en-US" sz="2799" spc="50" dirty="0">
                <a:solidFill>
                  <a:srgbClr val="AD2C1F"/>
                </a:solidFill>
                <a:latin typeface="Caladea"/>
                <a:ea typeface="Caladea"/>
                <a:cs typeface="Caladea"/>
                <a:sym typeface="Caladea"/>
              </a:rPr>
              <a:t>Operational Complexity : Designing this domain using microservices architecture introduces more moving parts compared to a monolithic domain, making debugging and monitoring more challenging.</a:t>
            </a:r>
          </a:p>
          <a:p>
            <a:pPr marL="514350" indent="-514350">
              <a:lnSpc>
                <a:spcPts val="3639"/>
              </a:lnSpc>
              <a:buAutoNum type="arabicPeriod"/>
            </a:pPr>
            <a:r>
              <a:rPr lang="en-US" sz="2799" spc="50" dirty="0">
                <a:solidFill>
                  <a:srgbClr val="AD2C1F"/>
                </a:solidFill>
                <a:latin typeface="Caladea"/>
                <a:ea typeface="Caladea"/>
                <a:cs typeface="Caladea"/>
                <a:sym typeface="Caladea"/>
              </a:rPr>
              <a:t>Using microservices, each service is responsible for its own data persistence, which can raise concerns for data consistency across the whole system</a:t>
            </a:r>
          </a:p>
          <a:p>
            <a:pPr marL="514350" indent="-514350">
              <a:lnSpc>
                <a:spcPts val="3639"/>
              </a:lnSpc>
              <a:buAutoNum type="arabicPeriod"/>
            </a:pPr>
            <a:r>
              <a:rPr lang="en-US" sz="2799" spc="50" dirty="0">
                <a:solidFill>
                  <a:srgbClr val="AD2C1F"/>
                </a:solidFill>
                <a:latin typeface="Caladea"/>
                <a:ea typeface="Caladea"/>
                <a:cs typeface="Caladea"/>
                <a:sym typeface="Caladea"/>
              </a:rPr>
              <a:t>The complexity of the distributed architecture could lead to latency while services are communicating, especially when a request calls multiple functions</a:t>
            </a:r>
          </a:p>
          <a:p>
            <a:pPr marL="514350" indent="-514350">
              <a:lnSpc>
                <a:spcPts val="3639"/>
              </a:lnSpc>
              <a:buAutoNum type="arabicPeriod"/>
            </a:pPr>
            <a:r>
              <a:rPr lang="en-US" sz="2799" spc="50" dirty="0">
                <a:solidFill>
                  <a:srgbClr val="AD2C1F"/>
                </a:solidFill>
                <a:latin typeface="Caladea"/>
                <a:ea typeface="Caladea"/>
                <a:cs typeface="Caladea"/>
                <a:sym typeface="Caladea"/>
              </a:rPr>
              <a:t>Azure Functions can have cold start issues, resulting in latency when scaling from zero, and Azure Cosmos DB is highly scalable, but can become very costly during high demand.</a:t>
            </a:r>
          </a:p>
          <a:p>
            <a:pPr marL="514350" indent="-514350">
              <a:lnSpc>
                <a:spcPts val="3639"/>
              </a:lnSpc>
              <a:buAutoNum type="arabicPeriod"/>
            </a:pPr>
            <a:r>
              <a:rPr lang="en-US" sz="2799" spc="50" dirty="0">
                <a:solidFill>
                  <a:srgbClr val="AD2C1F"/>
                </a:solidFill>
                <a:latin typeface="Caladea"/>
                <a:ea typeface="Caladea"/>
                <a:cs typeface="Caladea"/>
                <a:sym typeface="Caladea"/>
              </a:rPr>
              <a:t>Dependency on the Azure Ecosystem, making migration to other cloud providers very difficult in the future.</a:t>
            </a:r>
          </a:p>
          <a:p>
            <a:pPr>
              <a:lnSpc>
                <a:spcPts val="3639"/>
              </a:lnSpc>
            </a:pPr>
            <a:endParaRPr lang="en-US" sz="2799" spc="50" dirty="0">
              <a:solidFill>
                <a:srgbClr val="AD2C1F"/>
              </a:solidFill>
              <a:latin typeface="Caladea"/>
              <a:ea typeface="Caladea"/>
              <a:cs typeface="Caladea"/>
              <a:sym typeface="Caladea"/>
            </a:endParaRPr>
          </a:p>
          <a:p>
            <a:pPr marL="514350" indent="-514350">
              <a:lnSpc>
                <a:spcPts val="3639"/>
              </a:lnSpc>
              <a:buAutoNum type="arabicPeriod"/>
            </a:pPr>
            <a:endParaRPr lang="en-US" sz="2799" spc="50" dirty="0">
              <a:solidFill>
                <a:srgbClr val="AD2C1F"/>
              </a:solidFill>
              <a:latin typeface="Caladea"/>
              <a:ea typeface="Caladea"/>
              <a:cs typeface="Caladea"/>
              <a:sym typeface="Calad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6F3"/>
        </a:solidFill>
        <a:effectLst/>
      </p:bgPr>
    </p:bg>
    <p:spTree>
      <p:nvGrpSpPr>
        <p:cNvPr id="1" name=""/>
        <p:cNvGrpSpPr/>
        <p:nvPr/>
      </p:nvGrpSpPr>
      <p:grpSpPr>
        <a:xfrm>
          <a:off x="0" y="0"/>
          <a:ext cx="0" cy="0"/>
          <a:chOff x="0" y="0"/>
          <a:chExt cx="0" cy="0"/>
        </a:xfrm>
      </p:grpSpPr>
      <p:sp>
        <p:nvSpPr>
          <p:cNvPr id="3" name="Freeform 3"/>
          <p:cNvSpPr/>
          <p:nvPr/>
        </p:nvSpPr>
        <p:spPr>
          <a:xfrm>
            <a:off x="14380706" y="494906"/>
            <a:ext cx="3907294" cy="2280439"/>
          </a:xfrm>
          <a:custGeom>
            <a:avLst/>
            <a:gdLst/>
            <a:ahLst/>
            <a:cxnLst/>
            <a:rect l="l" t="t" r="r" b="b"/>
            <a:pathLst>
              <a:path w="3907294" h="2280439">
                <a:moveTo>
                  <a:pt x="0" y="0"/>
                </a:moveTo>
                <a:lnTo>
                  <a:pt x="3907294" y="0"/>
                </a:lnTo>
                <a:lnTo>
                  <a:pt x="3907294" y="2280438"/>
                </a:lnTo>
                <a:lnTo>
                  <a:pt x="0" y="22804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6" name="TextBox 6"/>
          <p:cNvSpPr txBox="1"/>
          <p:nvPr/>
        </p:nvSpPr>
        <p:spPr>
          <a:xfrm>
            <a:off x="-1219200" y="494906"/>
            <a:ext cx="18440400" cy="1731243"/>
          </a:xfrm>
          <a:prstGeom prst="rect">
            <a:avLst/>
          </a:prstGeom>
        </p:spPr>
        <p:txBody>
          <a:bodyPr wrap="square" lIns="0" tIns="0" rIns="0" bIns="0" rtlCol="0" anchor="t">
            <a:spAutoFit/>
          </a:bodyPr>
          <a:lstStyle/>
          <a:p>
            <a:pPr algn="ctr">
              <a:lnSpc>
                <a:spcPts val="13500"/>
              </a:lnSpc>
            </a:pPr>
            <a:r>
              <a:rPr lang="en-US" sz="11500" dirty="0">
                <a:solidFill>
                  <a:srgbClr val="AD2C1F"/>
                </a:solidFill>
                <a:latin typeface="Caladea"/>
                <a:ea typeface="Caladea"/>
                <a:cs typeface="Caladea"/>
                <a:sym typeface="Caladea"/>
              </a:rPr>
              <a:t>Assessment of Scalability</a:t>
            </a:r>
          </a:p>
        </p:txBody>
      </p:sp>
      <p:sp>
        <p:nvSpPr>
          <p:cNvPr id="4" name="TextBox 8">
            <a:extLst>
              <a:ext uri="{FF2B5EF4-FFF2-40B4-BE49-F238E27FC236}">
                <a16:creationId xmlns:a16="http://schemas.microsoft.com/office/drawing/2014/main" id="{096A2EAF-5D8C-EBA9-F643-400C40401723}"/>
              </a:ext>
            </a:extLst>
          </p:cNvPr>
          <p:cNvSpPr txBox="1"/>
          <p:nvPr/>
        </p:nvSpPr>
        <p:spPr>
          <a:xfrm>
            <a:off x="685800" y="2390506"/>
            <a:ext cx="15443820" cy="7826566"/>
          </a:xfrm>
          <a:prstGeom prst="rect">
            <a:avLst/>
          </a:prstGeom>
        </p:spPr>
        <p:txBody>
          <a:bodyPr wrap="square" lIns="0" tIns="0" rIns="0" bIns="0" rtlCol="0" anchor="t">
            <a:spAutoFit/>
          </a:bodyPr>
          <a:lstStyle/>
          <a:p>
            <a:pPr>
              <a:lnSpc>
                <a:spcPts val="3639"/>
              </a:lnSpc>
            </a:pPr>
            <a:r>
              <a:rPr lang="en-US" sz="2799" spc="50" dirty="0">
                <a:solidFill>
                  <a:srgbClr val="AD2C1F"/>
                </a:solidFill>
                <a:latin typeface="Caladea"/>
                <a:ea typeface="Caladea"/>
                <a:cs typeface="Caladea"/>
                <a:sym typeface="Caladea"/>
              </a:rPr>
              <a:t>Strengths : </a:t>
            </a:r>
          </a:p>
          <a:p>
            <a:pPr marL="514350" indent="-514350">
              <a:lnSpc>
                <a:spcPts val="3639"/>
              </a:lnSpc>
              <a:buAutoNum type="arabicPeriod"/>
            </a:pPr>
            <a:r>
              <a:rPr lang="en-US" sz="2799" spc="50" dirty="0">
                <a:solidFill>
                  <a:srgbClr val="AD2C1F"/>
                </a:solidFill>
                <a:latin typeface="Caladea"/>
                <a:ea typeface="Caladea"/>
                <a:cs typeface="Caladea"/>
                <a:sym typeface="Caladea"/>
              </a:rPr>
              <a:t>Serverless Architecture with Azure Static Web Apps and Azure Functions provide a serverless environment, allowing the application to automatically scale based on demand.</a:t>
            </a:r>
          </a:p>
          <a:p>
            <a:pPr marL="514350" indent="-514350">
              <a:lnSpc>
                <a:spcPts val="3639"/>
              </a:lnSpc>
              <a:buAutoNum type="arabicPeriod"/>
            </a:pPr>
            <a:r>
              <a:rPr lang="en-US" sz="2799" spc="50" dirty="0">
                <a:solidFill>
                  <a:srgbClr val="AD2C1F"/>
                </a:solidFill>
                <a:latin typeface="Caladea"/>
                <a:ea typeface="Caladea"/>
                <a:cs typeface="Caladea"/>
                <a:sym typeface="Caladea"/>
              </a:rPr>
              <a:t>The microservices model means that each service can independently scale based on demand, which enhances the overall scalability of the application.</a:t>
            </a:r>
          </a:p>
          <a:p>
            <a:pPr marL="514350" indent="-514350">
              <a:lnSpc>
                <a:spcPts val="3639"/>
              </a:lnSpc>
              <a:buAutoNum type="arabicPeriod"/>
            </a:pPr>
            <a:r>
              <a:rPr lang="en-US" sz="2799" spc="50" dirty="0">
                <a:solidFill>
                  <a:srgbClr val="AD2C1F"/>
                </a:solidFill>
                <a:latin typeface="Caladea"/>
                <a:ea typeface="Caladea"/>
                <a:cs typeface="Caladea"/>
                <a:sym typeface="Caladea"/>
              </a:rPr>
              <a:t>The chosen storage services Azure Cosmos DB and Azure Blob Storage, are designed to handle large volumes of data and scale automatically to meet demand</a:t>
            </a:r>
          </a:p>
          <a:p>
            <a:pPr>
              <a:lnSpc>
                <a:spcPts val="3639"/>
              </a:lnSpc>
            </a:pPr>
            <a:endParaRPr lang="en-US" sz="2799" spc="50" dirty="0">
              <a:solidFill>
                <a:srgbClr val="AD2C1F"/>
              </a:solidFill>
              <a:latin typeface="Caladea"/>
              <a:ea typeface="Caladea"/>
              <a:cs typeface="Caladea"/>
              <a:sym typeface="Caladea"/>
            </a:endParaRPr>
          </a:p>
          <a:p>
            <a:pPr>
              <a:lnSpc>
                <a:spcPts val="3639"/>
              </a:lnSpc>
            </a:pPr>
            <a:r>
              <a:rPr lang="en-US" sz="2799" spc="50" dirty="0">
                <a:solidFill>
                  <a:srgbClr val="AD2C1F"/>
                </a:solidFill>
                <a:latin typeface="Caladea"/>
                <a:ea typeface="Caladea"/>
                <a:cs typeface="Caladea"/>
                <a:sym typeface="Caladea"/>
              </a:rPr>
              <a:t>Weaknesses :</a:t>
            </a:r>
          </a:p>
          <a:p>
            <a:pPr marL="514350" indent="-514350">
              <a:lnSpc>
                <a:spcPts val="3639"/>
              </a:lnSpc>
              <a:buAutoNum type="arabicPeriod"/>
            </a:pPr>
            <a:r>
              <a:rPr lang="en-US" sz="2799" spc="50" dirty="0">
                <a:solidFill>
                  <a:srgbClr val="AD2C1F"/>
                </a:solidFill>
                <a:latin typeface="Caladea"/>
                <a:ea typeface="Caladea"/>
                <a:cs typeface="Caladea"/>
                <a:sym typeface="Caladea"/>
              </a:rPr>
              <a:t>A weakness of my microservices approach is the more complex management and coordination required for multiple services.</a:t>
            </a:r>
          </a:p>
          <a:p>
            <a:pPr marL="514350" indent="-514350">
              <a:lnSpc>
                <a:spcPts val="3639"/>
              </a:lnSpc>
              <a:buAutoNum type="arabicPeriod"/>
            </a:pPr>
            <a:r>
              <a:rPr lang="en-US" sz="2799" spc="50" dirty="0">
                <a:solidFill>
                  <a:srgbClr val="AD2C1F"/>
                </a:solidFill>
                <a:latin typeface="Caladea"/>
                <a:ea typeface="Caladea"/>
                <a:cs typeface="Caladea"/>
                <a:sym typeface="Caladea"/>
              </a:rPr>
              <a:t>The distributed nature of my chosen architecture can cause latency, especially when a request calls multiple services at once.</a:t>
            </a:r>
          </a:p>
          <a:p>
            <a:pPr marL="514350" indent="-514350">
              <a:lnSpc>
                <a:spcPts val="3639"/>
              </a:lnSpc>
              <a:buAutoNum type="arabicPeriod"/>
            </a:pPr>
            <a:r>
              <a:rPr lang="en-US" sz="2799" spc="50" dirty="0">
                <a:solidFill>
                  <a:srgbClr val="AD2C1F"/>
                </a:solidFill>
                <a:latin typeface="Caladea"/>
                <a:ea typeface="Caladea"/>
                <a:cs typeface="Caladea"/>
                <a:sym typeface="Caladea"/>
              </a:rPr>
              <a:t>Though serverless services are cost-effective at the start, the consumption-based pricing can lead to higher costs at a significant scale, which require careful monitoring and management to maintain.</a:t>
            </a:r>
          </a:p>
          <a:p>
            <a:pPr marL="514350" indent="-514350">
              <a:lnSpc>
                <a:spcPts val="3639"/>
              </a:lnSpc>
              <a:buAutoNum type="arabicPeriod"/>
            </a:pPr>
            <a:endParaRPr lang="en-US" sz="2799" spc="50" dirty="0">
              <a:solidFill>
                <a:srgbClr val="AD2C1F"/>
              </a:solidFill>
              <a:latin typeface="Caladea"/>
              <a:ea typeface="Caladea"/>
              <a:cs typeface="Caladea"/>
              <a:sym typeface="Calad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A7960-4A5E-3548-8F53-D859F9BAC14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A640F58-1FBE-C7DB-C886-16C6FC4C96E8}"/>
              </a:ext>
            </a:extLst>
          </p:cNvPr>
          <p:cNvSpPr txBox="1"/>
          <p:nvPr/>
        </p:nvSpPr>
        <p:spPr>
          <a:xfrm>
            <a:off x="1905000" y="254775"/>
            <a:ext cx="17067051" cy="1154162"/>
          </a:xfrm>
          <a:prstGeom prst="rect">
            <a:avLst/>
          </a:prstGeom>
        </p:spPr>
        <p:txBody>
          <a:bodyPr wrap="square" lIns="0" tIns="0" rIns="0" bIns="0" rtlCol="0" anchor="t">
            <a:spAutoFit/>
          </a:bodyPr>
          <a:lstStyle/>
          <a:p>
            <a:pPr algn="ctr">
              <a:lnSpc>
                <a:spcPts val="8999"/>
              </a:lnSpc>
            </a:pPr>
            <a:r>
              <a:rPr lang="en-US" sz="8000" dirty="0">
                <a:solidFill>
                  <a:srgbClr val="AD2C1F"/>
                </a:solidFill>
                <a:latin typeface="Caladea"/>
                <a:ea typeface="Caladea"/>
                <a:cs typeface="Caladea"/>
                <a:sym typeface="Caladea"/>
              </a:rPr>
              <a:t>Concluding Comments</a:t>
            </a:r>
          </a:p>
        </p:txBody>
      </p:sp>
      <p:sp>
        <p:nvSpPr>
          <p:cNvPr id="8" name="Freeform 8">
            <a:extLst>
              <a:ext uri="{FF2B5EF4-FFF2-40B4-BE49-F238E27FC236}">
                <a16:creationId xmlns:a16="http://schemas.microsoft.com/office/drawing/2014/main" id="{57A2FDAF-5B13-A873-C857-54478B2AFDBF}"/>
              </a:ext>
            </a:extLst>
          </p:cNvPr>
          <p:cNvSpPr/>
          <p:nvPr/>
        </p:nvSpPr>
        <p:spPr>
          <a:xfrm>
            <a:off x="-1256170" y="-1333500"/>
            <a:ext cx="3008770" cy="3008770"/>
          </a:xfrm>
          <a:custGeom>
            <a:avLst/>
            <a:gdLst/>
            <a:ahLst/>
            <a:cxnLst/>
            <a:rect l="l" t="t" r="r" b="b"/>
            <a:pathLst>
              <a:path w="3008770" h="3008770">
                <a:moveTo>
                  <a:pt x="0" y="0"/>
                </a:moveTo>
                <a:lnTo>
                  <a:pt x="3008770" y="0"/>
                </a:lnTo>
                <a:lnTo>
                  <a:pt x="3008770" y="3008770"/>
                </a:lnTo>
                <a:lnTo>
                  <a:pt x="0" y="3008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9" name="Freeform 9">
            <a:extLst>
              <a:ext uri="{FF2B5EF4-FFF2-40B4-BE49-F238E27FC236}">
                <a16:creationId xmlns:a16="http://schemas.microsoft.com/office/drawing/2014/main" id="{84CCD309-6B1B-A0B5-0843-5A74EFABC096}"/>
              </a:ext>
            </a:extLst>
          </p:cNvPr>
          <p:cNvSpPr/>
          <p:nvPr/>
        </p:nvSpPr>
        <p:spPr>
          <a:xfrm flipH="1" flipV="1">
            <a:off x="17145000" y="9182100"/>
            <a:ext cx="2004604" cy="2004604"/>
          </a:xfrm>
          <a:custGeom>
            <a:avLst/>
            <a:gdLst/>
            <a:ahLst/>
            <a:cxnLst/>
            <a:rect l="l" t="t" r="r" b="b"/>
            <a:pathLst>
              <a:path w="2004604" h="2004604">
                <a:moveTo>
                  <a:pt x="2004603" y="2004604"/>
                </a:moveTo>
                <a:lnTo>
                  <a:pt x="0" y="2004604"/>
                </a:lnTo>
                <a:lnTo>
                  <a:pt x="0" y="0"/>
                </a:lnTo>
                <a:lnTo>
                  <a:pt x="2004603" y="0"/>
                </a:lnTo>
                <a:lnTo>
                  <a:pt x="2004603" y="200460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10" name="TextBox 7">
            <a:extLst>
              <a:ext uri="{FF2B5EF4-FFF2-40B4-BE49-F238E27FC236}">
                <a16:creationId xmlns:a16="http://schemas.microsoft.com/office/drawing/2014/main" id="{E67530F7-CFBD-8B9D-7EA2-81BC6598726C}"/>
              </a:ext>
            </a:extLst>
          </p:cNvPr>
          <p:cNvSpPr txBox="1"/>
          <p:nvPr/>
        </p:nvSpPr>
        <p:spPr>
          <a:xfrm>
            <a:off x="1143000" y="2527457"/>
            <a:ext cx="16469153" cy="8590172"/>
          </a:xfrm>
          <a:prstGeom prst="rect">
            <a:avLst/>
          </a:prstGeom>
        </p:spPr>
        <p:txBody>
          <a:bodyPr wrap="square" lIns="0" tIns="0" rIns="0" bIns="0" rtlCol="0" anchor="t">
            <a:spAutoFit/>
          </a:bodyPr>
          <a:lstStyle/>
          <a:p>
            <a:pPr>
              <a:lnSpc>
                <a:spcPts val="4160"/>
              </a:lnSpc>
            </a:pPr>
            <a:r>
              <a:rPr lang="en-US" sz="3200" spc="57" dirty="0">
                <a:solidFill>
                  <a:srgbClr val="AD2C1F"/>
                </a:solidFill>
                <a:latin typeface="Caladea"/>
                <a:ea typeface="Caladea"/>
                <a:cs typeface="Caladea"/>
                <a:sym typeface="Caladea"/>
              </a:rPr>
              <a:t>I believe I have built an effective, scalable and highly-available cloud-native platform which solves my problem definition. Using Azure Static Web Apps and Functions, I have built a fully serverless architecture that can automatically scale with demand and handle unpredictable bursts of demand.</a:t>
            </a:r>
          </a:p>
          <a:p>
            <a:pPr>
              <a:lnSpc>
                <a:spcPts val="4160"/>
              </a:lnSpc>
            </a:pPr>
            <a:r>
              <a:rPr lang="en-US" sz="3200" spc="57" dirty="0">
                <a:solidFill>
                  <a:srgbClr val="AD2C1F"/>
                </a:solidFill>
                <a:latin typeface="Caladea"/>
                <a:ea typeface="Caladea"/>
                <a:cs typeface="Caladea"/>
                <a:sym typeface="Caladea"/>
              </a:rPr>
              <a:t>The microservice model ensures services can be scaled independently, my chosen data services provide a robust, scalable foundation for data and files.</a:t>
            </a:r>
          </a:p>
          <a:p>
            <a:pPr>
              <a:lnSpc>
                <a:spcPts val="4160"/>
              </a:lnSpc>
            </a:pPr>
            <a:r>
              <a:rPr lang="en-US" sz="3200" spc="57" dirty="0">
                <a:solidFill>
                  <a:srgbClr val="AD2C1F"/>
                </a:solidFill>
                <a:latin typeface="Caladea"/>
                <a:ea typeface="Caladea"/>
                <a:cs typeface="Caladea"/>
                <a:sym typeface="Caladea"/>
              </a:rPr>
              <a:t>However, there are limitations to consider, such as management, coordination complexity, potential latency and unpredictable costs.</a:t>
            </a:r>
          </a:p>
          <a:p>
            <a:pPr>
              <a:lnSpc>
                <a:spcPts val="4160"/>
              </a:lnSpc>
            </a:pPr>
            <a:endParaRPr lang="en-US" sz="3200" spc="57" dirty="0">
              <a:solidFill>
                <a:srgbClr val="AD2C1F"/>
              </a:solidFill>
              <a:latin typeface="Caladea"/>
              <a:ea typeface="Caladea"/>
              <a:cs typeface="Caladea"/>
              <a:sym typeface="Caladea"/>
            </a:endParaRPr>
          </a:p>
          <a:p>
            <a:pPr>
              <a:lnSpc>
                <a:spcPts val="4160"/>
              </a:lnSpc>
            </a:pPr>
            <a:r>
              <a:rPr lang="en-US" sz="3200" spc="57" dirty="0">
                <a:solidFill>
                  <a:srgbClr val="AD2C1F"/>
                </a:solidFill>
                <a:latin typeface="Caladea"/>
                <a:ea typeface="Caladea"/>
                <a:cs typeface="Caladea"/>
                <a:sym typeface="Caladea"/>
              </a:rPr>
              <a:t>In conclusion, the UniShare platform is designed to be flexible, robust, and dynamic, fulfilling the needs stated in the problem definition. I have acknowledged limitations and have potential solutions, to prepare for future challenges.</a:t>
            </a:r>
          </a:p>
          <a:p>
            <a:pPr>
              <a:lnSpc>
                <a:spcPts val="4160"/>
              </a:lnSpc>
            </a:pPr>
            <a:endParaRPr lang="en-US" sz="3200" spc="57" dirty="0">
              <a:solidFill>
                <a:srgbClr val="AD2C1F"/>
              </a:solidFill>
              <a:latin typeface="Caladea"/>
              <a:ea typeface="Caladea"/>
              <a:cs typeface="Caladea"/>
              <a:sym typeface="Caladea"/>
            </a:endParaRPr>
          </a:p>
          <a:p>
            <a:pPr>
              <a:lnSpc>
                <a:spcPts val="4160"/>
              </a:lnSpc>
            </a:pPr>
            <a:endParaRPr lang="en-US" sz="3200" spc="57" dirty="0">
              <a:solidFill>
                <a:srgbClr val="AD2C1F"/>
              </a:solidFill>
              <a:latin typeface="Caladea"/>
              <a:ea typeface="Caladea"/>
              <a:cs typeface="Caladea"/>
              <a:sym typeface="Caladea"/>
            </a:endParaRPr>
          </a:p>
          <a:p>
            <a:pPr>
              <a:lnSpc>
                <a:spcPts val="4160"/>
              </a:lnSpc>
            </a:pPr>
            <a:endParaRPr lang="en-US" sz="3200" spc="57" dirty="0">
              <a:solidFill>
                <a:srgbClr val="AD2C1F"/>
              </a:solidFill>
              <a:latin typeface="Caladea"/>
              <a:ea typeface="Caladea"/>
              <a:cs typeface="Caladea"/>
              <a:sym typeface="Caladea"/>
            </a:endParaRPr>
          </a:p>
          <a:p>
            <a:pPr>
              <a:lnSpc>
                <a:spcPts val="4160"/>
              </a:lnSpc>
            </a:pPr>
            <a:endParaRPr lang="en-US" sz="3200" spc="57" dirty="0">
              <a:solidFill>
                <a:srgbClr val="AD2C1F"/>
              </a:solidFill>
              <a:latin typeface="Caladea"/>
              <a:ea typeface="Caladea"/>
              <a:cs typeface="Caladea"/>
              <a:sym typeface="Caladea"/>
            </a:endParaRPr>
          </a:p>
        </p:txBody>
      </p:sp>
    </p:spTree>
    <p:extLst>
      <p:ext uri="{BB962C8B-B14F-4D97-AF65-F5344CB8AC3E}">
        <p14:creationId xmlns:p14="http://schemas.microsoft.com/office/powerpoint/2010/main" val="2279563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C7F2-FB4A-ACD7-C3D5-55930E1767BF}"/>
              </a:ext>
            </a:extLst>
          </p:cNvPr>
          <p:cNvSpPr txBox="1">
            <a:spLocks/>
          </p:cNvSpPr>
          <p:nvPr/>
        </p:nvSpPr>
        <p:spPr>
          <a:xfrm>
            <a:off x="3886200" y="0"/>
            <a:ext cx="10515600" cy="774127"/>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dirty="0">
                <a:solidFill>
                  <a:srgbClr val="AD2C1F"/>
                </a:solidFill>
              </a:rPr>
              <a:t>References</a:t>
            </a:r>
          </a:p>
        </p:txBody>
      </p:sp>
      <p:sp>
        <p:nvSpPr>
          <p:cNvPr id="6" name="TextBox 7">
            <a:extLst>
              <a:ext uri="{FF2B5EF4-FFF2-40B4-BE49-F238E27FC236}">
                <a16:creationId xmlns:a16="http://schemas.microsoft.com/office/drawing/2014/main" id="{375499A5-EA9D-DAB5-270C-4CE56336B2F2}"/>
              </a:ext>
            </a:extLst>
          </p:cNvPr>
          <p:cNvSpPr txBox="1"/>
          <p:nvPr/>
        </p:nvSpPr>
        <p:spPr>
          <a:xfrm>
            <a:off x="228600" y="1409700"/>
            <a:ext cx="19583400" cy="4687373"/>
          </a:xfrm>
          <a:prstGeom prst="rect">
            <a:avLst/>
          </a:prstGeom>
        </p:spPr>
        <p:txBody>
          <a:bodyPr wrap="square" lIns="0" tIns="0" rIns="0" bIns="0" rtlCol="0" anchor="t">
            <a:spAutoFit/>
          </a:bodyPr>
          <a:lstStyle/>
          <a:p>
            <a:pPr>
              <a:lnSpc>
                <a:spcPts val="4160"/>
              </a:lnSpc>
            </a:pPr>
            <a:r>
              <a:rPr lang="en-US" sz="2400" b="1" spc="57" dirty="0">
                <a:solidFill>
                  <a:srgbClr val="AD2C1F"/>
                </a:solidFill>
                <a:latin typeface="+mj-lt"/>
                <a:ea typeface="Caladea"/>
                <a:cs typeface="Caladea"/>
                <a:sym typeface="Caladea"/>
              </a:rPr>
              <a:t>Azure Documentation :</a:t>
            </a:r>
          </a:p>
          <a:p>
            <a:pPr marL="457200" indent="-457200">
              <a:buFont typeface="Arial" panose="020B0604020202020204" pitchFamily="34" charset="0"/>
              <a:buChar char="•"/>
            </a:pPr>
            <a:r>
              <a:rPr lang="en-GB" sz="2000" dirty="0">
                <a:solidFill>
                  <a:srgbClr val="AD2C1F"/>
                </a:solidFill>
                <a:latin typeface="+mj-lt"/>
              </a:rPr>
              <a:t>Microsoft Azure. (2024). </a:t>
            </a:r>
            <a:r>
              <a:rPr lang="en-GB" sz="2000" i="1" dirty="0">
                <a:solidFill>
                  <a:srgbClr val="AD2C1F"/>
                </a:solidFill>
                <a:latin typeface="+mj-lt"/>
              </a:rPr>
              <a:t>Azure Static Web Apps documentation</a:t>
            </a:r>
            <a:r>
              <a:rPr lang="en-GB" sz="2000" dirty="0">
                <a:solidFill>
                  <a:srgbClr val="AD2C1F"/>
                </a:solidFill>
                <a:latin typeface="+mj-lt"/>
              </a:rPr>
              <a:t>. Available at: </a:t>
            </a:r>
            <a:r>
              <a:rPr lang="en-GB" sz="2000" dirty="0">
                <a:solidFill>
                  <a:srgbClr val="AD2C1F"/>
                </a:solidFill>
                <a:latin typeface="+mj-lt"/>
                <a:hlinkClick r:id="rId2">
                  <a:extLst>
                    <a:ext uri="{A12FA001-AC4F-418D-AE19-62706E023703}">
                      <ahyp:hlinkClr xmlns:ahyp="http://schemas.microsoft.com/office/drawing/2018/hyperlinkcolor" val="tx"/>
                    </a:ext>
                  </a:extLst>
                </a:hlinkClick>
              </a:rPr>
              <a:t>https://learn.microsoft.com/en-us/azure/static-web-apps/</a:t>
            </a:r>
            <a:endParaRPr lang="en-GB" sz="2000" dirty="0">
              <a:solidFill>
                <a:srgbClr val="AD2C1F"/>
              </a:solidFill>
              <a:latin typeface="+mj-lt"/>
            </a:endParaRPr>
          </a:p>
          <a:p>
            <a:pPr marL="457200" indent="-457200">
              <a:buFont typeface="Arial" panose="020B0604020202020204" pitchFamily="34" charset="0"/>
              <a:buChar char="•"/>
            </a:pPr>
            <a:r>
              <a:rPr lang="en-GB" sz="2000" dirty="0">
                <a:solidFill>
                  <a:srgbClr val="AD2C1F"/>
                </a:solidFill>
                <a:latin typeface="+mj-lt"/>
              </a:rPr>
              <a:t>Microsoft Azure. (2024). </a:t>
            </a:r>
            <a:r>
              <a:rPr lang="en-GB" sz="2000" i="1" dirty="0">
                <a:solidFill>
                  <a:srgbClr val="AD2C1F"/>
                </a:solidFill>
                <a:latin typeface="+mj-lt"/>
              </a:rPr>
              <a:t>Azure Functions documentation</a:t>
            </a:r>
            <a:r>
              <a:rPr lang="en-GB" sz="2000" dirty="0">
                <a:solidFill>
                  <a:srgbClr val="AD2C1F"/>
                </a:solidFill>
                <a:latin typeface="+mj-lt"/>
              </a:rPr>
              <a:t>. Available at: </a:t>
            </a:r>
            <a:r>
              <a:rPr lang="en-GB" sz="2000" dirty="0">
                <a:solidFill>
                  <a:srgbClr val="AD2C1F"/>
                </a:solidFill>
                <a:latin typeface="+mj-lt"/>
                <a:hlinkClick r:id="rId3">
                  <a:extLst>
                    <a:ext uri="{A12FA001-AC4F-418D-AE19-62706E023703}">
                      <ahyp:hlinkClr xmlns:ahyp="http://schemas.microsoft.com/office/drawing/2018/hyperlinkcolor" val="tx"/>
                    </a:ext>
                  </a:extLst>
                </a:hlinkClick>
              </a:rPr>
              <a:t>https://learn.microsoft.com/en-us/azure/azure-functions/</a:t>
            </a:r>
            <a:endParaRPr lang="en-GB" sz="2000" dirty="0">
              <a:solidFill>
                <a:srgbClr val="AD2C1F"/>
              </a:solidFill>
              <a:latin typeface="+mj-lt"/>
            </a:endParaRPr>
          </a:p>
          <a:p>
            <a:pPr marL="457200" indent="-457200">
              <a:buFont typeface="Arial" panose="020B0604020202020204" pitchFamily="34" charset="0"/>
              <a:buChar char="•"/>
            </a:pPr>
            <a:r>
              <a:rPr lang="en-GB" sz="2000" dirty="0">
                <a:solidFill>
                  <a:srgbClr val="AD2C1F"/>
                </a:solidFill>
                <a:latin typeface="+mj-lt"/>
              </a:rPr>
              <a:t>Microsoft Azure. (2024). </a:t>
            </a:r>
            <a:r>
              <a:rPr lang="en-GB" sz="2000" i="1" dirty="0">
                <a:solidFill>
                  <a:srgbClr val="AD2C1F"/>
                </a:solidFill>
                <a:latin typeface="+mj-lt"/>
              </a:rPr>
              <a:t>Azure Cosmos DB documentation</a:t>
            </a:r>
            <a:r>
              <a:rPr lang="en-GB" sz="2000" dirty="0">
                <a:solidFill>
                  <a:srgbClr val="AD2C1F"/>
                </a:solidFill>
                <a:latin typeface="+mj-lt"/>
              </a:rPr>
              <a:t>. Available at: </a:t>
            </a:r>
            <a:r>
              <a:rPr lang="en-GB" sz="2000" dirty="0">
                <a:solidFill>
                  <a:srgbClr val="AD2C1F"/>
                </a:solidFill>
                <a:latin typeface="+mj-lt"/>
                <a:hlinkClick r:id="rId4">
                  <a:extLst>
                    <a:ext uri="{A12FA001-AC4F-418D-AE19-62706E023703}">
                      <ahyp:hlinkClr xmlns:ahyp="http://schemas.microsoft.com/office/drawing/2018/hyperlinkcolor" val="tx"/>
                    </a:ext>
                  </a:extLst>
                </a:hlinkClick>
              </a:rPr>
              <a:t>https://learn.microsoft.com/en-us/azure/cosmos-db/</a:t>
            </a:r>
            <a:endParaRPr lang="en-GB" sz="2000" dirty="0">
              <a:solidFill>
                <a:srgbClr val="AD2C1F"/>
              </a:solidFill>
              <a:latin typeface="+mj-lt"/>
            </a:endParaRPr>
          </a:p>
          <a:p>
            <a:pPr marL="457200" indent="-457200">
              <a:buFont typeface="Arial" panose="020B0604020202020204" pitchFamily="34" charset="0"/>
              <a:buChar char="•"/>
            </a:pPr>
            <a:r>
              <a:rPr lang="en-GB" sz="2000" dirty="0">
                <a:solidFill>
                  <a:srgbClr val="AD2C1F"/>
                </a:solidFill>
                <a:latin typeface="+mj-lt"/>
              </a:rPr>
              <a:t>Microsoft Azure. (2024). </a:t>
            </a:r>
            <a:r>
              <a:rPr lang="en-GB" sz="2000" i="1" dirty="0">
                <a:solidFill>
                  <a:srgbClr val="AD2C1F"/>
                </a:solidFill>
                <a:latin typeface="+mj-lt"/>
              </a:rPr>
              <a:t>Azure Blob Storage documentation</a:t>
            </a:r>
            <a:r>
              <a:rPr lang="en-GB" sz="2000" dirty="0">
                <a:solidFill>
                  <a:srgbClr val="AD2C1F"/>
                </a:solidFill>
                <a:latin typeface="+mj-lt"/>
              </a:rPr>
              <a:t>. Available at: </a:t>
            </a:r>
            <a:r>
              <a:rPr lang="en-GB" sz="2000" dirty="0">
                <a:solidFill>
                  <a:srgbClr val="AD2C1F"/>
                </a:solidFill>
                <a:latin typeface="+mj-lt"/>
                <a:hlinkClick r:id="rId5">
                  <a:extLst>
                    <a:ext uri="{A12FA001-AC4F-418D-AE19-62706E023703}">
                      <ahyp:hlinkClr xmlns:ahyp="http://schemas.microsoft.com/office/drawing/2018/hyperlinkcolor" val="tx"/>
                    </a:ext>
                  </a:extLst>
                </a:hlinkClick>
              </a:rPr>
              <a:t>https://learn.microsoft.com/en-us/azure/storage/blobs/</a:t>
            </a:r>
            <a:endParaRPr lang="en-GB" sz="2000" dirty="0">
              <a:solidFill>
                <a:srgbClr val="AD2C1F"/>
              </a:solidFill>
              <a:latin typeface="+mj-lt"/>
            </a:endParaRPr>
          </a:p>
          <a:p>
            <a:pPr marL="457200" indent="-457200">
              <a:buFont typeface="Arial" panose="020B0604020202020204" pitchFamily="34" charset="0"/>
              <a:buChar char="•"/>
            </a:pPr>
            <a:r>
              <a:rPr lang="en-GB" sz="2000" dirty="0">
                <a:solidFill>
                  <a:srgbClr val="AD2C1F"/>
                </a:solidFill>
                <a:latin typeface="+mj-lt"/>
              </a:rPr>
              <a:t>Microsoft Azure. (2024). </a:t>
            </a:r>
            <a:r>
              <a:rPr lang="en-GB" sz="2000" i="1" dirty="0">
                <a:solidFill>
                  <a:srgbClr val="AD2C1F"/>
                </a:solidFill>
                <a:latin typeface="+mj-lt"/>
              </a:rPr>
              <a:t>Azure AI Search documentation</a:t>
            </a:r>
            <a:r>
              <a:rPr lang="en-GB" sz="2000" dirty="0">
                <a:solidFill>
                  <a:srgbClr val="AD2C1F"/>
                </a:solidFill>
                <a:latin typeface="+mj-lt"/>
              </a:rPr>
              <a:t>. Available at: </a:t>
            </a:r>
            <a:r>
              <a:rPr lang="en-GB" sz="2000" dirty="0">
                <a:solidFill>
                  <a:srgbClr val="AD2C1F"/>
                </a:solidFill>
                <a:latin typeface="+mj-lt"/>
                <a:hlinkClick r:id="rId6">
                  <a:extLst>
                    <a:ext uri="{A12FA001-AC4F-418D-AE19-62706E023703}">
                      <ahyp:hlinkClr xmlns:ahyp="http://schemas.microsoft.com/office/drawing/2018/hyperlinkcolor" val="tx"/>
                    </a:ext>
                  </a:extLst>
                </a:hlinkClick>
              </a:rPr>
              <a:t>https://learn.microsoft.com/en-us/azure/search/</a:t>
            </a:r>
            <a:endParaRPr lang="en-GB" sz="2000" dirty="0">
              <a:solidFill>
                <a:srgbClr val="AD2C1F"/>
              </a:solidFill>
              <a:latin typeface="+mj-lt"/>
            </a:endParaRPr>
          </a:p>
          <a:p>
            <a:pPr marL="457200" indent="-457200">
              <a:buFont typeface="Arial" panose="020B0604020202020204" pitchFamily="34" charset="0"/>
              <a:buChar char="•"/>
            </a:pPr>
            <a:r>
              <a:rPr lang="en-GB" sz="2000" dirty="0">
                <a:solidFill>
                  <a:srgbClr val="AD2C1F"/>
                </a:solidFill>
                <a:latin typeface="+mj-lt"/>
              </a:rPr>
              <a:t>Microsoft Azure. (2024). </a:t>
            </a:r>
            <a:r>
              <a:rPr lang="en-GB" sz="2000" i="1" dirty="0">
                <a:solidFill>
                  <a:srgbClr val="AD2C1F"/>
                </a:solidFill>
                <a:latin typeface="+mj-lt"/>
              </a:rPr>
              <a:t>Azure Application Insights documentation</a:t>
            </a:r>
            <a:r>
              <a:rPr lang="en-GB" sz="2000" dirty="0">
                <a:solidFill>
                  <a:srgbClr val="AD2C1F"/>
                </a:solidFill>
                <a:latin typeface="+mj-lt"/>
              </a:rPr>
              <a:t>. Available at: </a:t>
            </a:r>
            <a:r>
              <a:rPr lang="en-GB" sz="2000" dirty="0">
                <a:solidFill>
                  <a:srgbClr val="AD2C1F"/>
                </a:solidFill>
                <a:latin typeface="+mj-lt"/>
                <a:hlinkClick r:id="rId7">
                  <a:extLst>
                    <a:ext uri="{A12FA001-AC4F-418D-AE19-62706E023703}">
                      <ahyp:hlinkClr xmlns:ahyp="http://schemas.microsoft.com/office/drawing/2018/hyperlinkcolor" val="tx"/>
                    </a:ext>
                  </a:extLst>
                </a:hlinkClick>
              </a:rPr>
              <a:t>https://learn.microsoft.com/en-us/azure/azure-monitor/app/app-insights-overview</a:t>
            </a:r>
            <a:endParaRPr lang="en-GB" sz="2000" dirty="0">
              <a:solidFill>
                <a:srgbClr val="AD2C1F"/>
              </a:solidFill>
              <a:latin typeface="+mj-lt"/>
            </a:endParaRPr>
          </a:p>
          <a:p>
            <a:endParaRPr lang="en-GB" sz="2000" dirty="0">
              <a:solidFill>
                <a:srgbClr val="AD2C1F"/>
              </a:solidFill>
              <a:latin typeface="+mj-lt"/>
            </a:endParaRPr>
          </a:p>
          <a:p>
            <a:r>
              <a:rPr lang="en-US" sz="2400" b="1" spc="57" dirty="0">
                <a:solidFill>
                  <a:srgbClr val="AD2C1F"/>
                </a:solidFill>
                <a:ea typeface="Caladea"/>
                <a:cs typeface="Caladea"/>
                <a:sym typeface="Caladea"/>
              </a:rPr>
              <a:t>Icons and Logos :</a:t>
            </a:r>
            <a:endParaRPr lang="en-GB" sz="2400" b="1" dirty="0">
              <a:solidFill>
                <a:srgbClr val="AD2C1F"/>
              </a:solidFill>
              <a:latin typeface="+mj-lt"/>
            </a:endParaRPr>
          </a:p>
          <a:p>
            <a:pPr marL="457200" indent="-457200">
              <a:buFont typeface="Arial" panose="020B0604020202020204" pitchFamily="34" charset="0"/>
              <a:buChar char="•"/>
            </a:pPr>
            <a:r>
              <a:rPr lang="en-US" sz="2000" spc="57" dirty="0">
                <a:solidFill>
                  <a:srgbClr val="AD2C1F"/>
                </a:solidFill>
                <a:latin typeface="+mj-lt"/>
                <a:ea typeface="Caladea"/>
                <a:cs typeface="Caladea"/>
                <a:sym typeface="Caladea"/>
              </a:rPr>
              <a:t>Microsoft Azure. (2024). Azure Architecture Icons. Available at : </a:t>
            </a:r>
            <a:r>
              <a:rPr lang="en-US" sz="2000" spc="57" dirty="0">
                <a:solidFill>
                  <a:srgbClr val="0000FF"/>
                </a:solidFill>
                <a:latin typeface="+mj-lt"/>
                <a:ea typeface="Caladea"/>
                <a:cs typeface="Caladea"/>
                <a:sym typeface="Caladea"/>
                <a:hlinkClick r:id="rId8">
                  <a:extLst>
                    <a:ext uri="{A12FA001-AC4F-418D-AE19-62706E023703}">
                      <ahyp:hlinkClr xmlns:ahyp="http://schemas.microsoft.com/office/drawing/2018/hyperlinkcolor" val="tx"/>
                    </a:ext>
                  </a:extLst>
                </a:hlinkClick>
              </a:rPr>
              <a:t>https://learn.microsoft.com/en-us/azure/architecture/icons</a:t>
            </a:r>
            <a:r>
              <a:rPr lang="en-US" sz="2000" spc="57" dirty="0">
                <a:solidFill>
                  <a:srgbClr val="AD2C1F"/>
                </a:solidFill>
                <a:latin typeface="+mj-lt"/>
                <a:ea typeface="Caladea"/>
                <a:cs typeface="Caladea"/>
                <a:sym typeface="Caladea"/>
                <a:hlinkClick r:id="rId8">
                  <a:extLst>
                    <a:ext uri="{A12FA001-AC4F-418D-AE19-62706E023703}">
                      <ahyp:hlinkClr xmlns:ahyp="http://schemas.microsoft.com/office/drawing/2018/hyperlinkcolor" val="tx"/>
                    </a:ext>
                  </a:extLst>
                </a:hlinkClick>
              </a:rPr>
              <a:t>/</a:t>
            </a:r>
            <a:endParaRPr lang="en-US" sz="2000" spc="57" dirty="0">
              <a:solidFill>
                <a:srgbClr val="AD2C1F"/>
              </a:solidFill>
              <a:latin typeface="+mj-lt"/>
              <a:ea typeface="Caladea"/>
              <a:cs typeface="Caladea"/>
              <a:sym typeface="Caladea"/>
            </a:endParaRPr>
          </a:p>
          <a:p>
            <a:endParaRPr lang="en-US" sz="2000" spc="57" dirty="0">
              <a:solidFill>
                <a:srgbClr val="AD2C1F"/>
              </a:solidFill>
              <a:latin typeface="+mj-lt"/>
              <a:ea typeface="Caladea"/>
              <a:cs typeface="Caladea"/>
              <a:sym typeface="Caladea"/>
            </a:endParaRPr>
          </a:p>
          <a:p>
            <a:pPr>
              <a:lnSpc>
                <a:spcPts val="4160"/>
              </a:lnSpc>
            </a:pPr>
            <a:r>
              <a:rPr lang="en-US" sz="2400" b="1" spc="57" dirty="0">
                <a:solidFill>
                  <a:srgbClr val="AD2C1F"/>
                </a:solidFill>
                <a:latin typeface="+mj-lt"/>
                <a:ea typeface="Caladea"/>
                <a:cs typeface="Caladea"/>
                <a:sym typeface="Caladea"/>
              </a:rPr>
              <a:t>Course Material :</a:t>
            </a:r>
          </a:p>
          <a:p>
            <a:pPr marL="342900" indent="-342900">
              <a:lnSpc>
                <a:spcPts val="4160"/>
              </a:lnSpc>
              <a:buFont typeface="Arial" panose="020B0604020202020204" pitchFamily="34" charset="0"/>
              <a:buChar char="•"/>
            </a:pPr>
            <a:r>
              <a:rPr lang="en-US" sz="2000" spc="57" dirty="0">
                <a:solidFill>
                  <a:srgbClr val="AD2C1F"/>
                </a:solidFill>
                <a:latin typeface="+mj-lt"/>
                <a:ea typeface="Caladea"/>
                <a:cs typeface="Caladea"/>
                <a:sym typeface="Caladea"/>
              </a:rPr>
              <a:t>Ulster University Blackboard COM682 Cloud-Native Development Lecture Notes Weeks 1 - 6</a:t>
            </a:r>
          </a:p>
        </p:txBody>
      </p:sp>
    </p:spTree>
    <p:extLst>
      <p:ext uri="{BB962C8B-B14F-4D97-AF65-F5344CB8AC3E}">
        <p14:creationId xmlns:p14="http://schemas.microsoft.com/office/powerpoint/2010/main" val="247223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76CC83-B941-864C-3928-7DE0DCADB3C7}"/>
              </a:ext>
            </a:extLst>
          </p:cNvPr>
          <p:cNvPicPr>
            <a:picLocks noChangeAspect="1"/>
          </p:cNvPicPr>
          <p:nvPr/>
        </p:nvPicPr>
        <p:blipFill>
          <a:blip r:embed="rId2"/>
          <a:stretch>
            <a:fillRect/>
          </a:stretch>
        </p:blipFill>
        <p:spPr>
          <a:xfrm>
            <a:off x="549048" y="798372"/>
            <a:ext cx="17189904" cy="9300818"/>
          </a:xfrm>
          <a:prstGeom prst="rect">
            <a:avLst/>
          </a:prstGeom>
        </p:spPr>
      </p:pic>
      <p:sp>
        <p:nvSpPr>
          <p:cNvPr id="2" name="Title 1">
            <a:extLst>
              <a:ext uri="{FF2B5EF4-FFF2-40B4-BE49-F238E27FC236}">
                <a16:creationId xmlns:a16="http://schemas.microsoft.com/office/drawing/2014/main" id="{B1426157-27BE-A8E1-768F-A00D8E5D2EAD}"/>
              </a:ext>
            </a:extLst>
          </p:cNvPr>
          <p:cNvSpPr txBox="1">
            <a:spLocks/>
          </p:cNvSpPr>
          <p:nvPr/>
        </p:nvSpPr>
        <p:spPr>
          <a:xfrm>
            <a:off x="3886200" y="0"/>
            <a:ext cx="10515600" cy="774127"/>
          </a:xfrm>
          <a:prstGeom prst="rect">
            <a:avLst/>
          </a:prstGeom>
        </p:spPr>
        <p:txBody>
          <a:bodyP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dirty="0">
                <a:solidFill>
                  <a:srgbClr val="AD2C1F"/>
                </a:solidFill>
              </a:rPr>
              <a:t>Appendix III. Coursework 1 Submission Checklist</a:t>
            </a:r>
          </a:p>
        </p:txBody>
      </p:sp>
    </p:spTree>
    <p:extLst>
      <p:ext uri="{BB962C8B-B14F-4D97-AF65-F5344CB8AC3E}">
        <p14:creationId xmlns:p14="http://schemas.microsoft.com/office/powerpoint/2010/main" val="309782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ade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TotalTime>
  <Words>1672</Words>
  <Application>Microsoft Office PowerPoint</Application>
  <PresentationFormat>Custom</PresentationFormat>
  <Paragraphs>137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Caladea Bold</vt:lpstr>
      <vt:lpstr>Arial</vt:lpstr>
      <vt:lpstr>Caladea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Modern Simple Thesis Defense Presentation</dc:title>
  <cp:lastModifiedBy>Lok-Hung Lui</cp:lastModifiedBy>
  <cp:revision>3</cp:revision>
  <dcterms:created xsi:type="dcterms:W3CDTF">2006-08-16T00:00:00Z</dcterms:created>
  <dcterms:modified xsi:type="dcterms:W3CDTF">2025-11-14T01:00:40Z</dcterms:modified>
  <dc:identifier>DAG4mSuPD3Q</dc:identifier>
</cp:coreProperties>
</file>